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70" r:id="rId10"/>
    <p:sldId id="263" r:id="rId11"/>
    <p:sldId id="264" r:id="rId12"/>
    <p:sldId id="265" r:id="rId13"/>
    <p:sldId id="266" r:id="rId14"/>
  </p:sldIdLst>
  <p:sldSz cx="12192000" cy="6858000"/>
  <p:notesSz cx="6858000" cy="12192000"/>
  <p:embeddedFontLst>
    <p:embeddedFont>
      <p:font typeface="Lora" panose="020B0604020202020204" charset="-18"/>
      <p:regular r:id="rId16"/>
      <p:bold r:id="rId17"/>
      <p:italic r:id="rId18"/>
      <p:boldItalic r:id="rId19"/>
    </p:embeddedFont>
    <p:embeddedFont>
      <p:font typeface="Calibri" panose="020F0502020204030204" pitchFamily="3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274" autoAdjust="0"/>
  </p:normalViewPr>
  <p:slideViewPr>
    <p:cSldViewPr snapToGrid="0">
      <p:cViewPr varScale="1">
        <p:scale>
          <a:sx n="82" d="100"/>
          <a:sy n="82" d="100"/>
        </p:scale>
        <p:origin x="691" y="77"/>
      </p:cViewPr>
      <p:guideLst/>
    </p:cSldViewPr>
  </p:slideViewPr>
  <p:notesTextViewPr>
    <p:cViewPr>
      <p:scale>
        <a:sx n="1" d="1"/>
        <a:sy n="1" d="1"/>
      </p:scale>
      <p:origin x="0" y="-5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" name="Google Shape;3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555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hu-HU" sz="1200" dirty="0" smtClean="0">
                <a:solidFill>
                  <a:schemeClr val="dk1"/>
                </a:solidFill>
              </a:rPr>
              <a:t>Hálózatunk egy </a:t>
            </a:r>
            <a:r>
              <a:rPr lang="hu-HU" sz="1200" b="1" dirty="0" smtClean="0">
                <a:solidFill>
                  <a:schemeClr val="dk1"/>
                </a:solidFill>
              </a:rPr>
              <a:t>központilag irányított</a:t>
            </a:r>
            <a:r>
              <a:rPr lang="hu-HU" sz="1200" dirty="0" smtClean="0">
                <a:solidFill>
                  <a:schemeClr val="dk1"/>
                </a:solidFill>
              </a:rPr>
              <a:t>, országos lefedettségű informatikai infrastruktúra, amely </a:t>
            </a:r>
            <a:r>
              <a:rPr lang="hu-HU" sz="1200" b="1" dirty="0" smtClean="0">
                <a:solidFill>
                  <a:schemeClr val="dk1"/>
                </a:solidFill>
              </a:rPr>
              <a:t>biztonságos, titkosított összeköttetésekkel</a:t>
            </a:r>
            <a:r>
              <a:rPr lang="hu-HU" sz="1200" dirty="0" smtClean="0">
                <a:solidFill>
                  <a:schemeClr val="dk1"/>
                </a:solidFill>
              </a:rPr>
              <a:t> kapcsolja össze a telephelyeket.</a:t>
            </a:r>
          </a:p>
          <a:p>
            <a:pPr marL="0" marR="0" lvl="0" indent="0" algn="l" rtl="0">
              <a:lnSpc>
                <a:spcPct val="155555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50"/>
              <a:buFont typeface="Arial"/>
              <a:buNone/>
            </a:pPr>
            <a:r>
              <a:rPr lang="hu-HU" sz="1200" dirty="0" smtClean="0">
                <a:solidFill>
                  <a:schemeClr val="dk1"/>
                </a:solidFill>
              </a:rPr>
              <a:t>Célja a </a:t>
            </a:r>
            <a:r>
              <a:rPr lang="hu-HU" sz="1200" b="1" dirty="0" smtClean="0">
                <a:solidFill>
                  <a:schemeClr val="dk1"/>
                </a:solidFill>
              </a:rPr>
              <a:t>megbízható adatkapcsolat</a:t>
            </a:r>
            <a:r>
              <a:rPr lang="hu-HU" sz="1200" dirty="0" smtClean="0">
                <a:solidFill>
                  <a:schemeClr val="dk1"/>
                </a:solidFill>
              </a:rPr>
              <a:t>, a </a:t>
            </a:r>
            <a:r>
              <a:rPr lang="hu-HU" sz="1200" b="1" dirty="0" smtClean="0">
                <a:solidFill>
                  <a:schemeClr val="dk1"/>
                </a:solidFill>
              </a:rPr>
              <a:t>hatékony információáramlás</a:t>
            </a:r>
            <a:r>
              <a:rPr lang="hu-HU" sz="1200" dirty="0" smtClean="0">
                <a:solidFill>
                  <a:schemeClr val="dk1"/>
                </a:solidFill>
              </a:rPr>
              <a:t> és az </a:t>
            </a:r>
            <a:r>
              <a:rPr lang="hu-HU" sz="1200" b="1" dirty="0" smtClean="0">
                <a:solidFill>
                  <a:schemeClr val="dk1"/>
                </a:solidFill>
              </a:rPr>
              <a:t>egységes központi felügyelet</a:t>
            </a:r>
            <a:endParaRPr dirty="0"/>
          </a:p>
        </p:txBody>
      </p:sp>
      <p:sp>
        <p:nvSpPr>
          <p:cNvPr id="33" name="Google Shape;33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3" name="Google Shape;63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5" name="Google Shape;85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8" name="Google Shape;98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0" name="Google Shape;110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5" name="Google Shape;125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5" name="Google Shape;125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642637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0" name="Google Shape;110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3035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8afaa6544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8afaa6544d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g38afaa6544d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6" name="Google Shape;146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3" name="Google Shape;163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4" name="Google Shape;164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7" name="Google Shape;177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8" name="Google Shape;178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transition spd="med">
    <p:fade thruBlk="1"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22.png"/><Relationship Id="rId5" Type="http://schemas.openxmlformats.org/officeDocument/2006/relationships/image" Target="../media/image17.png"/><Relationship Id="rId10" Type="http://schemas.openxmlformats.org/officeDocument/2006/relationships/image" Target="../media/image21.png"/><Relationship Id="rId4" Type="http://schemas.openxmlformats.org/officeDocument/2006/relationships/image" Target="../media/image16.png"/><Relationship Id="rId9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905000" y="142875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10000" y="285750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857500" y="428625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62500" y="571500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0" y="190500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3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572500" y="381000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3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667500" y="523875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304974" y="1122225"/>
            <a:ext cx="847500" cy="67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26;p3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315376" y="1122225"/>
            <a:ext cx="678000" cy="6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3"/>
          <p:cNvSpPr/>
          <p:nvPr/>
        </p:nvSpPr>
        <p:spPr>
          <a:xfrm>
            <a:off x="1105748" y="2124075"/>
            <a:ext cx="998035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4500"/>
              <a:buFont typeface="Arial"/>
              <a:buNone/>
            </a:pPr>
            <a:r>
              <a:rPr lang="en-US" sz="45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Kettel Hálózati Rendszer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4132555" y="2847975"/>
            <a:ext cx="3926741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Projektbemutató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3"/>
          <p:cNvSpPr/>
          <p:nvPr/>
        </p:nvSpPr>
        <p:spPr>
          <a:xfrm>
            <a:off x="2502275" y="3567100"/>
            <a:ext cx="73152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Arial"/>
              <a:buNone/>
            </a:pPr>
            <a:r>
              <a:rPr lang="en-US" sz="1400" b="0" i="0" u="none" strike="noStrike" cap="non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Készítette: Mihálovics József Alex(PM),Vaszlavik Dominik,Németh Kristóf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60900" y="0"/>
            <a:ext cx="12192000" cy="6856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6;p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25500" y="640625"/>
            <a:ext cx="1219200" cy="38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7;p4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1000" y="1295400"/>
            <a:ext cx="5486400" cy="3817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4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24600" y="958066"/>
            <a:ext cx="5486400" cy="5694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606525" y="2227635"/>
            <a:ext cx="655350" cy="6193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635640" y="2976072"/>
            <a:ext cx="655350" cy="6193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634172" y="3762989"/>
            <a:ext cx="655350" cy="6193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Google Shape;42;p4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598263" y="4738964"/>
            <a:ext cx="655350" cy="586978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4"/>
          <p:cNvSpPr/>
          <p:nvPr/>
        </p:nvSpPr>
        <p:spPr>
          <a:xfrm>
            <a:off x="-803564" y="20984"/>
            <a:ext cx="13716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3000"/>
              <a:buFont typeface="Arial"/>
              <a:buNone/>
            </a:pPr>
            <a:r>
              <a:rPr lang="en-US" sz="30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Bemutató</a:t>
            </a:r>
            <a:endParaRPr sz="3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609600" y="1826875"/>
            <a:ext cx="6035100" cy="41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160"/>
              <a:buFont typeface="Arial"/>
              <a:buNone/>
            </a:pPr>
            <a:r>
              <a:rPr lang="en-US" sz="2460" b="0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Kettel Hálózati rendszer:</a:t>
            </a:r>
            <a:endParaRPr sz="2460" b="0" i="0" u="none" strike="noStrike" cap="none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609600" y="2506855"/>
            <a:ext cx="5029200" cy="229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hu-HU" sz="1900" dirty="0" smtClean="0">
                <a:latin typeface="Lora" panose="020B0604020202020204" charset="-18"/>
              </a:rPr>
              <a:t>-</a:t>
            </a:r>
            <a:r>
              <a:rPr lang="en-GB" sz="1900" dirty="0" err="1" smtClean="0">
                <a:latin typeface="Lora" panose="020B0604020202020204" charset="-18"/>
              </a:rPr>
              <a:t>Országos</a:t>
            </a:r>
            <a:r>
              <a:rPr lang="en-GB" sz="1900" dirty="0" smtClean="0">
                <a:latin typeface="Lora" panose="020B0604020202020204" charset="-18"/>
              </a:rPr>
              <a:t> IT-</a:t>
            </a:r>
            <a:r>
              <a:rPr lang="en-GB" sz="1900" dirty="0" err="1" smtClean="0">
                <a:latin typeface="Lora" panose="020B0604020202020204" charset="-18"/>
              </a:rPr>
              <a:t>infrastruktúra</a:t>
            </a:r>
            <a:endParaRPr lang="hu-HU" sz="1900" dirty="0" smtClean="0">
              <a:latin typeface="Lora" panose="020B0604020202020204" charset="-18"/>
            </a:endParaRPr>
          </a:p>
          <a:p>
            <a:r>
              <a:rPr lang="hu-HU" sz="1900" dirty="0" smtClean="0">
                <a:latin typeface="Lora" panose="020B0604020202020204" charset="-18"/>
              </a:rPr>
              <a:t>-</a:t>
            </a:r>
            <a:r>
              <a:rPr lang="en-GB" sz="1900" dirty="0" err="1" smtClean="0">
                <a:latin typeface="Lora" panose="020B0604020202020204" charset="-18"/>
              </a:rPr>
              <a:t>Megbízhatóság</a:t>
            </a:r>
            <a:endParaRPr lang="en-GB" sz="1900" dirty="0">
              <a:latin typeface="Lora" panose="020B0604020202020204" charset="-18"/>
            </a:endParaRPr>
          </a:p>
          <a:p>
            <a:pPr marL="0" marR="0" lvl="0" indent="0" algn="l" rtl="0">
              <a:lnSpc>
                <a:spcPct val="155555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50"/>
              <a:buFont typeface="Arial"/>
              <a:buNone/>
            </a:pPr>
            <a:endParaRPr sz="1900" dirty="0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6553200" y="1274415"/>
            <a:ext cx="6035040" cy="4113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16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A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hálózat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négy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telephelyet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köt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800" b="0" i="0" u="none" strike="noStrike" cap="none" dirty="0" err="1" smtClean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össze</a:t>
            </a:r>
            <a:r>
              <a:rPr lang="hu-HU" sz="1800" dirty="0" smtClean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 és kettő </a:t>
            </a:r>
            <a:r>
              <a:rPr lang="hu-HU" sz="1800" dirty="0" err="1" smtClean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mellékhelyet</a:t>
            </a:r>
            <a:r>
              <a:rPr lang="hu-HU" sz="1800" dirty="0" smtClean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800" b="0" i="0" u="none" strike="noStrike" cap="none" dirty="0" smtClean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:</a:t>
            </a:r>
            <a:endParaRPr sz="2860" b="0" i="0" u="none" strike="noStrike" cap="none" dirty="0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7467600" y="2142976"/>
            <a:ext cx="493776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5555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50"/>
              <a:buFont typeface="Arial"/>
              <a:buNone/>
            </a:pPr>
            <a:r>
              <a:rPr lang="en-US" sz="1750" b="1" i="0" u="none" strike="noStrike" cap="none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Szeged</a:t>
            </a:r>
            <a:endParaRPr sz="1750" b="1" i="0" u="none" strike="noStrike" cap="none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7467600" y="2447776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üzlet (értékesítési és ügyfélszolgálati pont),</a:t>
            </a:r>
            <a:endParaRPr sz="1500" b="0" i="0" u="none" strike="noStrike" cap="none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7430850" y="2860269"/>
            <a:ext cx="493776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5555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50"/>
              <a:buFont typeface="Arial"/>
              <a:buNone/>
            </a:pPr>
            <a:r>
              <a:rPr lang="en-US" sz="1750" b="1" i="0" u="none" strike="noStrike" cap="none" dirty="0" err="1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Győr</a:t>
            </a:r>
            <a:endParaRPr sz="1750" b="1" i="0" u="none" strike="noStrike" cap="none" dirty="0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7396213" y="3179799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400" b="0" i="0" u="none" strike="noStrike" cap="none" dirty="0" err="1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iroda</a:t>
            </a:r>
            <a:r>
              <a:rPr lang="en-US" sz="1400" b="0" i="0" u="none" strike="noStrike" cap="none" dirty="0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 (</a:t>
            </a:r>
            <a:r>
              <a:rPr lang="en-US" sz="1400" b="0" i="0" u="none" strike="noStrike" cap="none" dirty="0" err="1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regionális</a:t>
            </a:r>
            <a:r>
              <a:rPr lang="en-US" sz="1400" b="0" i="0" u="none" strike="noStrike" cap="none" dirty="0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400" b="0" i="0" u="none" strike="noStrike" cap="none" dirty="0" err="1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adminisztráció</a:t>
            </a:r>
            <a:r>
              <a:rPr lang="en-US" sz="1400" b="0" i="0" u="none" strike="noStrike" cap="none" dirty="0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400" b="0" i="0" u="none" strike="noStrike" cap="none" dirty="0" err="1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és</a:t>
            </a:r>
            <a:r>
              <a:rPr lang="en-US" sz="1400" b="0" i="0" u="none" strike="noStrike" cap="none" dirty="0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400" b="0" i="0" u="none" strike="noStrike" cap="none" dirty="0" err="1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ügyfélkezelés</a:t>
            </a:r>
            <a:r>
              <a:rPr lang="en-US" sz="1400" b="0" i="0" u="none" strike="noStrike" cap="none" dirty="0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)</a:t>
            </a:r>
            <a:endParaRPr sz="1400" b="0" i="0" u="none" strike="noStrike" cap="none" dirty="0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7404234" y="3639203"/>
            <a:ext cx="493776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5555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50"/>
              <a:buFont typeface="Arial"/>
              <a:buNone/>
            </a:pPr>
            <a:r>
              <a:rPr lang="en-US" sz="1750" b="1" i="0" u="none" strike="noStrike" cap="none" dirty="0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Budapest</a:t>
            </a:r>
            <a:endParaRPr sz="1750" b="1" i="0" u="none" strike="noStrike" cap="none" dirty="0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7364701" y="3956644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400" b="0" i="0" u="none" strike="noStrike" cap="none" dirty="0" err="1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telephely</a:t>
            </a:r>
            <a:r>
              <a:rPr lang="en-US" sz="1400" b="0" i="0" u="none" strike="noStrike" cap="none" dirty="0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 (</a:t>
            </a:r>
            <a:r>
              <a:rPr lang="en-US" sz="1400" b="0" i="0" u="none" strike="noStrike" cap="none" dirty="0" err="1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központi</a:t>
            </a:r>
            <a:r>
              <a:rPr lang="en-US" sz="1400" b="0" i="0" u="none" strike="noStrike" cap="none" dirty="0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400" b="0" i="0" u="none" strike="noStrike" cap="none" dirty="0" err="1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szerverek</a:t>
            </a:r>
            <a:r>
              <a:rPr lang="en-US" sz="1400" b="0" i="0" u="none" strike="noStrike" cap="none" dirty="0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, </a:t>
            </a:r>
            <a:r>
              <a:rPr lang="en-US" sz="1400" b="0" i="0" u="none" strike="noStrike" cap="none" dirty="0" err="1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adatközpont</a:t>
            </a:r>
            <a:r>
              <a:rPr lang="en-US" sz="1400" b="0" i="0" u="none" strike="noStrike" cap="none" dirty="0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400" b="0" i="0" u="none" strike="noStrike" cap="none" dirty="0" err="1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és</a:t>
            </a:r>
            <a:r>
              <a:rPr lang="en-US" sz="1400" b="0" i="0" u="none" strike="noStrike" cap="none" dirty="0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400" b="0" i="0" u="none" strike="noStrike" cap="none" dirty="0" err="1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vezetés</a:t>
            </a:r>
            <a:r>
              <a:rPr lang="en-US" sz="1400" b="0" i="0" u="none" strike="noStrike" cap="none" dirty="0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)</a:t>
            </a:r>
            <a:endParaRPr sz="1400" b="0" i="0" u="none" strike="noStrike" cap="none" dirty="0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7404234" y="4610140"/>
            <a:ext cx="493776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5555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50"/>
              <a:buFont typeface="Arial"/>
              <a:buNone/>
            </a:pPr>
            <a:r>
              <a:rPr lang="en-US" sz="1750" b="1" i="0" u="none" strike="noStrike" cap="none" dirty="0" err="1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Pécs</a:t>
            </a:r>
            <a:endParaRPr sz="1750" b="1" i="0" u="none" strike="noStrike" cap="none" dirty="0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7430850" y="4944209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iroda</a:t>
            </a:r>
            <a:r>
              <a:rPr lang="en-US" sz="14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(</a:t>
            </a:r>
            <a:r>
              <a:rPr lang="en-US" sz="1400" b="0" i="0" u="none" strike="noStrike" cap="none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támogató</a:t>
            </a:r>
            <a:r>
              <a:rPr lang="en-US" sz="14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400" b="0" i="0" u="none" strike="noStrike" cap="none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és</a:t>
            </a:r>
            <a:r>
              <a:rPr lang="en-US" sz="14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400" b="0" i="0" u="none" strike="noStrike" cap="none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karbantartási</a:t>
            </a:r>
            <a:r>
              <a:rPr lang="en-US" sz="14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400" b="0" i="0" u="none" strike="noStrike" cap="none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részleg</a:t>
            </a:r>
            <a:r>
              <a:rPr lang="en-US" sz="14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381000" y="6271171"/>
            <a:ext cx="3190935" cy="205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80"/>
              <a:buFont typeface="Arial"/>
              <a:buNone/>
            </a:pPr>
            <a:r>
              <a:rPr lang="en-US" sz="1080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Kettel Hálózati Rendszer – Projektbemutató</a:t>
            </a:r>
            <a:endParaRPr sz="108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6659850" y="2318325"/>
            <a:ext cx="548700" cy="41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SZ</a:t>
            </a:r>
            <a:endParaRPr sz="1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6751996" y="3095207"/>
            <a:ext cx="5487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GY</a:t>
            </a:r>
            <a:endParaRPr sz="14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6824922" y="3877865"/>
            <a:ext cx="317400" cy="30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4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6794814" y="4842681"/>
            <a:ext cx="3174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endParaRPr sz="14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" name="Google Shape;42;p4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719224" y="6070732"/>
            <a:ext cx="431164" cy="429243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42;p4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699509" y="5487402"/>
            <a:ext cx="450879" cy="43237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églalap 1"/>
          <p:cNvSpPr/>
          <p:nvPr/>
        </p:nvSpPr>
        <p:spPr>
          <a:xfrm>
            <a:off x="7208550" y="5441013"/>
            <a:ext cx="1996059" cy="39055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55555"/>
              </a:lnSpc>
              <a:buClr>
                <a:srgbClr val="333333"/>
              </a:buClr>
              <a:buSzPts val="1350"/>
            </a:pPr>
            <a:r>
              <a:rPr lang="hu-HU" b="1" dirty="0" smtClean="0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DUNAÚJVÁROS - HR</a:t>
            </a:r>
            <a:endParaRPr lang="en-US" b="1" dirty="0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3" name="Téglalap 2"/>
          <p:cNvSpPr/>
          <p:nvPr/>
        </p:nvSpPr>
        <p:spPr>
          <a:xfrm>
            <a:off x="7208549" y="6040863"/>
            <a:ext cx="2392001" cy="42845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55555"/>
              </a:lnSpc>
              <a:buClr>
                <a:srgbClr val="333333"/>
              </a:buClr>
              <a:buSzPts val="1350"/>
            </a:pPr>
            <a:r>
              <a:rPr lang="hu-HU" b="1" dirty="0" smtClean="0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KECSKEMÉT - PÉNZÜGY </a:t>
            </a:r>
            <a:endParaRPr lang="en-US" b="1" dirty="0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4" name="Téglalap 3"/>
          <p:cNvSpPr/>
          <p:nvPr/>
        </p:nvSpPr>
        <p:spPr>
          <a:xfrm>
            <a:off x="6776945" y="5560431"/>
            <a:ext cx="31451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hu-HU" b="1" dirty="0" smtClean="0"/>
              <a:t>D</a:t>
            </a:r>
            <a:endParaRPr lang="hu-HU" dirty="0"/>
          </a:p>
        </p:txBody>
      </p:sp>
      <p:sp>
        <p:nvSpPr>
          <p:cNvPr id="5" name="Téglalap 4"/>
          <p:cNvSpPr/>
          <p:nvPr/>
        </p:nvSpPr>
        <p:spPr>
          <a:xfrm>
            <a:off x="6784070" y="6140558"/>
            <a:ext cx="31451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hu-HU" b="1" dirty="0" smtClean="0"/>
              <a:t>K</a:t>
            </a:r>
            <a:endParaRPr lang="hu-H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94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10650" y="0"/>
            <a:ext cx="3181350" cy="27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952500"/>
            <a:ext cx="2667000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0" y="1028700"/>
            <a:ext cx="1219200" cy="38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5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03613" y="2225950"/>
            <a:ext cx="4439512" cy="329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5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361709" y="1571600"/>
            <a:ext cx="6248643" cy="4843054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5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15325" y="2716411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5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315325" y="3859411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5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382250" y="3859411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5" descr="preencoded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391775" y="3983236"/>
            <a:ext cx="1905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5"/>
          <p:cNvSpPr/>
          <p:nvPr/>
        </p:nvSpPr>
        <p:spPr>
          <a:xfrm>
            <a:off x="381000" y="3810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Hálózat Bemutatása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/>
          <p:nvPr/>
        </p:nvSpPr>
        <p:spPr>
          <a:xfrm>
            <a:off x="509925" y="2225948"/>
            <a:ext cx="4333200" cy="22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160"/>
              <a:buFont typeface="Arial"/>
              <a:buNone/>
            </a:pPr>
            <a:r>
              <a:rPr lang="en-US" sz="1900" b="0" i="0" u="none" strike="noStrike" cap="none" dirty="0" err="1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Ezt</a:t>
            </a:r>
            <a:r>
              <a:rPr lang="en-US" sz="1900" b="0" i="0" u="none" strike="noStrike" cap="none" dirty="0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 a </a:t>
            </a:r>
            <a:r>
              <a:rPr lang="en-US" sz="1900" b="0" i="0" u="none" strike="noStrike" cap="none" dirty="0" err="1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bemutatás</a:t>
            </a:r>
            <a:r>
              <a:rPr lang="en-US" sz="1900" b="0" i="0" u="none" strike="noStrike" cap="none" dirty="0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egy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800" b="1" i="0" u="none" strike="noStrike" cap="none" dirty="0" err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vizuálisan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megtervezett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800" b="1" i="0" u="none" strike="noStrike" cap="none" dirty="0" err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szimulációs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környezetben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hoztunk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létre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. A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rendszer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célja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,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hogy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szemléltessük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,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hogyan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működik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 a </a:t>
            </a:r>
            <a:r>
              <a:rPr lang="en-US" sz="1800" b="1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KETTEL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hálózat</a:t>
            </a:r>
            <a:r>
              <a:rPr lang="en-US" sz="1800" b="0" i="0" u="none" strike="noStrike" cap="none" dirty="0" smtClean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.</a:t>
            </a:r>
            <a:endParaRPr lang="hu-HU" sz="1800" b="0" i="0" u="none" strike="noStrike" cap="none" dirty="0" smtClean="0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160"/>
              <a:buFont typeface="Arial"/>
              <a:buNone/>
            </a:pPr>
            <a:endParaRPr lang="hu-HU" sz="1800" b="0" i="0" u="none" strike="noStrike" cap="none" dirty="0" smtClean="0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160"/>
              <a:buFont typeface="Arial"/>
              <a:buNone/>
            </a:pPr>
            <a:r>
              <a:rPr lang="hu-HU" sz="1600" dirty="0" smtClean="0">
                <a:solidFill>
                  <a:schemeClr val="dk1"/>
                </a:solidFill>
                <a:latin typeface="Lora" panose="020B0604020202020204" charset="-18"/>
                <a:ea typeface="Lora"/>
                <a:cs typeface="Lora"/>
                <a:sym typeface="Lora"/>
              </a:rPr>
              <a:t>Fontos </a:t>
            </a:r>
            <a:r>
              <a:rPr lang="hu-HU" sz="1600" dirty="0" err="1" smtClean="0">
                <a:solidFill>
                  <a:schemeClr val="dk1"/>
                </a:solidFill>
                <a:latin typeface="Lora" panose="020B0604020202020204" charset="-18"/>
                <a:ea typeface="Lora"/>
                <a:cs typeface="Lora"/>
                <a:sym typeface="Lora"/>
              </a:rPr>
              <a:t>Hozzafűzni</a:t>
            </a:r>
            <a:r>
              <a:rPr lang="hu-HU" sz="1600" dirty="0" smtClean="0">
                <a:solidFill>
                  <a:schemeClr val="dk1"/>
                </a:solidFill>
                <a:latin typeface="Lora" panose="020B0604020202020204" charset="-18"/>
                <a:ea typeface="Lora"/>
                <a:cs typeface="Lora"/>
                <a:sym typeface="Lora"/>
              </a:rPr>
              <a:t> hogy az összes </a:t>
            </a:r>
            <a:r>
              <a:rPr lang="hu-HU" sz="1600" dirty="0" err="1" smtClean="0">
                <a:solidFill>
                  <a:schemeClr val="dk1"/>
                </a:solidFill>
                <a:latin typeface="Lora" panose="020B0604020202020204" charset="-18"/>
                <a:ea typeface="Lora"/>
                <a:cs typeface="Lora"/>
                <a:sym typeface="Lora"/>
              </a:rPr>
              <a:t>routerrel</a:t>
            </a:r>
            <a:r>
              <a:rPr lang="hu-HU" sz="1600" dirty="0" smtClean="0">
                <a:solidFill>
                  <a:schemeClr val="dk1"/>
                </a:solidFill>
                <a:latin typeface="Lora" panose="020B0604020202020204" charset="-18"/>
                <a:ea typeface="Lora"/>
                <a:cs typeface="Lora"/>
                <a:sym typeface="Lora"/>
              </a:rPr>
              <a:t> lehetséges az SSH kapcsolat</a:t>
            </a:r>
            <a:endParaRPr lang="hu-HU" sz="1800" dirty="0">
              <a:solidFill>
                <a:schemeClr val="dk1"/>
              </a:solidFill>
              <a:latin typeface="Lora" panose="020B0604020202020204" charset="-18"/>
              <a:ea typeface="Lora"/>
              <a:cs typeface="Lora"/>
              <a:sym typeface="Lora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4709160" y="1524000"/>
            <a:ext cx="7498080" cy="4113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160"/>
              <a:buFont typeface="Arial"/>
              <a:buNone/>
            </a:pPr>
            <a:r>
              <a:rPr lang="en-US" sz="2160" b="0" i="0" u="none" strike="noStrike" cap="none">
                <a:solidFill>
                  <a:srgbClr val="333333"/>
                </a:solidFill>
                <a:latin typeface="Lora"/>
                <a:ea typeface="Lora"/>
                <a:cs typeface="Lora"/>
                <a:sym typeface="Lora"/>
              </a:rPr>
              <a:t>Cisco Packet Tracer - 8.2.2</a:t>
            </a:r>
            <a:endParaRPr sz="2160" b="0" i="0" u="none" strike="noStrike" cap="none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7981950" y="3306961"/>
            <a:ext cx="952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Plan de contrôle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6800850" y="4640461"/>
            <a:ext cx="11430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Routeur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381000" y="6547396"/>
            <a:ext cx="3190935" cy="205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80"/>
              <a:buFont typeface="Arial"/>
              <a:buNone/>
            </a:pPr>
            <a:r>
              <a:rPr lang="en-US" sz="1080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Kettel Hálózati Rendszer – Projektbemutató</a:t>
            </a:r>
            <a:endParaRPr sz="108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Kép 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86400" y="1935362"/>
            <a:ext cx="5943600" cy="43891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6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34025" y="1174950"/>
            <a:ext cx="5170527" cy="509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6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99188" y="1244288"/>
            <a:ext cx="5600700" cy="4726977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6"/>
          <p:cNvSpPr txBox="1"/>
          <p:nvPr/>
        </p:nvSpPr>
        <p:spPr>
          <a:xfrm>
            <a:off x="4616250" y="287575"/>
            <a:ext cx="29595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lang="en-US" sz="3500" b="1" i="0" u="none" strike="noStrike" cap="none">
                <a:solidFill>
                  <a:srgbClr val="000000"/>
                </a:solidFill>
                <a:latin typeface="Lora"/>
                <a:ea typeface="Lora"/>
                <a:cs typeface="Lora"/>
                <a:sym typeface="Lora"/>
              </a:rPr>
              <a:t>BUDAPEST</a:t>
            </a:r>
            <a:endParaRPr sz="3500" b="1" i="0" u="none" strike="noStrike" cap="none">
              <a:solidFill>
                <a:srgbClr val="000000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534025" y="6463246"/>
            <a:ext cx="31908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80"/>
              <a:buFont typeface="Arial"/>
              <a:buNone/>
            </a:pPr>
            <a:r>
              <a:rPr lang="en-US" sz="1080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Kettel Hálózati Rendszer – Projektbemutató</a:t>
            </a:r>
            <a:endParaRPr sz="108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92;p6"/>
          <p:cNvSpPr txBox="1"/>
          <p:nvPr/>
        </p:nvSpPr>
        <p:spPr>
          <a:xfrm>
            <a:off x="746588" y="1587199"/>
            <a:ext cx="4745400" cy="4481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 dirty="0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/>
            </a:r>
            <a:br>
              <a:rPr lang="en-US" sz="16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</a:br>
            <a:endParaRPr sz="1600" b="0" i="0" u="none" strike="noStrike" cap="none" dirty="0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 dirty="0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7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7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7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7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7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7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7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7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92;p6"/>
          <p:cNvSpPr txBox="1"/>
          <p:nvPr/>
        </p:nvSpPr>
        <p:spPr>
          <a:xfrm>
            <a:off x="746588" y="1188455"/>
            <a:ext cx="4745400" cy="4481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u-HU" sz="1600" b="1" dirty="0"/>
              <a:t>DHCP</a:t>
            </a:r>
            <a:endParaRPr lang="hu-HU" sz="1600" dirty="0"/>
          </a:p>
          <a:p>
            <a:r>
              <a:rPr lang="hu-HU" sz="1600" dirty="0" smtClean="0"/>
              <a:t>-BUDAPEST_10 </a:t>
            </a:r>
            <a:r>
              <a:rPr lang="hu-HU" sz="1600" dirty="0"/>
              <a:t>→ 192.168.70.0/24</a:t>
            </a:r>
          </a:p>
          <a:p>
            <a:r>
              <a:rPr lang="hu-HU" sz="1600" dirty="0" smtClean="0"/>
              <a:t>-BUDAPEST_20 </a:t>
            </a:r>
            <a:r>
              <a:rPr lang="hu-HU" sz="1600" dirty="0"/>
              <a:t>→ 192.168.80.0/24</a:t>
            </a:r>
          </a:p>
          <a:p>
            <a:r>
              <a:rPr lang="hu-HU" sz="1600" dirty="0" smtClean="0"/>
              <a:t>-Kizárt </a:t>
            </a:r>
            <a:r>
              <a:rPr lang="hu-HU" sz="1600" dirty="0"/>
              <a:t>címek: </a:t>
            </a:r>
            <a:r>
              <a:rPr lang="hu-HU" sz="1600" b="1" dirty="0"/>
              <a:t>.1–.49 és .101–.</a:t>
            </a:r>
            <a:r>
              <a:rPr lang="hu-HU" sz="1600" b="1" dirty="0" smtClean="0"/>
              <a:t>254</a:t>
            </a:r>
          </a:p>
          <a:p>
            <a:r>
              <a:rPr lang="hu-HU" sz="1600" b="1" dirty="0" smtClean="0"/>
              <a:t>VLAN</a:t>
            </a:r>
            <a:endParaRPr lang="hu-HU" sz="1600" dirty="0"/>
          </a:p>
          <a:p>
            <a:r>
              <a:rPr lang="hu-HU" sz="1600" dirty="0" smtClean="0"/>
              <a:t>-VLAN </a:t>
            </a:r>
            <a:r>
              <a:rPr lang="hu-HU" sz="1600" dirty="0"/>
              <a:t>10 – 192.168.70.1</a:t>
            </a:r>
          </a:p>
          <a:p>
            <a:r>
              <a:rPr lang="hu-HU" sz="1600" dirty="0" smtClean="0"/>
              <a:t>-VLAN </a:t>
            </a:r>
            <a:r>
              <a:rPr lang="hu-HU" sz="1600" dirty="0"/>
              <a:t>20 – 192.168.80.1</a:t>
            </a:r>
          </a:p>
          <a:p>
            <a:r>
              <a:rPr lang="hu-HU" sz="1600" dirty="0" smtClean="0"/>
              <a:t>-</a:t>
            </a:r>
            <a:r>
              <a:rPr lang="hu-HU" sz="1600" dirty="0" err="1" smtClean="0"/>
              <a:t>Inter</a:t>
            </a:r>
            <a:r>
              <a:rPr lang="hu-HU" sz="1600" dirty="0" smtClean="0"/>
              <a:t>-VLAN </a:t>
            </a:r>
            <a:r>
              <a:rPr lang="hu-HU" sz="1600" dirty="0" err="1"/>
              <a:t>routing</a:t>
            </a:r>
            <a:r>
              <a:rPr lang="hu-HU" sz="1600" dirty="0"/>
              <a:t>: </a:t>
            </a:r>
            <a:r>
              <a:rPr lang="hu-HU" sz="1600" b="1" dirty="0" err="1"/>
              <a:t>router</a:t>
            </a:r>
            <a:r>
              <a:rPr lang="hu-HU" sz="1600" b="1" dirty="0"/>
              <a:t> végzi</a:t>
            </a:r>
            <a:endParaRPr lang="hu-HU" sz="1600" dirty="0"/>
          </a:p>
          <a:p>
            <a:endParaRPr lang="hu-HU" sz="1600" b="1" dirty="0" smtClean="0"/>
          </a:p>
          <a:p>
            <a:r>
              <a:rPr lang="hu-HU" sz="1600" b="1" dirty="0" err="1" smtClean="0"/>
              <a:t>Routing</a:t>
            </a:r>
            <a:endParaRPr lang="hu-HU" sz="1600" dirty="0"/>
          </a:p>
          <a:p>
            <a:r>
              <a:rPr lang="hu-HU" sz="1600" dirty="0" smtClean="0"/>
              <a:t>-OSPF</a:t>
            </a:r>
            <a:endParaRPr lang="hu-HU" sz="1600" dirty="0"/>
          </a:p>
          <a:p>
            <a:r>
              <a:rPr lang="hu-HU" sz="1600" dirty="0" smtClean="0"/>
              <a:t>-Kapcsolat </a:t>
            </a:r>
            <a:r>
              <a:rPr lang="hu-HU" sz="1600" dirty="0"/>
              <a:t>a többi telephellyel OSPF-en keresztül</a:t>
            </a:r>
          </a:p>
          <a:p>
            <a:endParaRPr lang="hu-HU" sz="1600" b="1" dirty="0" smtClean="0"/>
          </a:p>
          <a:p>
            <a:r>
              <a:rPr lang="hu-HU" sz="1600" b="1" dirty="0" smtClean="0"/>
              <a:t>ACL</a:t>
            </a:r>
            <a:endParaRPr lang="hu-HU" sz="1600" dirty="0"/>
          </a:p>
          <a:p>
            <a:r>
              <a:rPr lang="hu-HU" sz="1600" dirty="0" smtClean="0"/>
              <a:t>-Tiltja </a:t>
            </a:r>
            <a:r>
              <a:rPr lang="hu-HU" sz="1600" dirty="0"/>
              <a:t>a VLAN 10 ↔ VLAN 20 közti forgalmat</a:t>
            </a:r>
          </a:p>
          <a:p>
            <a:r>
              <a:rPr lang="hu-HU" sz="1600" dirty="0" smtClean="0"/>
              <a:t>-Tiltja </a:t>
            </a:r>
            <a:r>
              <a:rPr lang="hu-HU" sz="1600" dirty="0"/>
              <a:t>a más városok hálózatainak közvetlen </a:t>
            </a:r>
            <a:r>
              <a:rPr lang="hu-HU" sz="1600" dirty="0" smtClean="0"/>
              <a:t>elérését</a:t>
            </a:r>
          </a:p>
          <a:p>
            <a:r>
              <a:rPr lang="hu-HU" sz="1600" b="1" dirty="0" smtClean="0">
                <a:solidFill>
                  <a:schemeClr val="dk1"/>
                </a:solidFill>
                <a:latin typeface="+mj-lt"/>
                <a:ea typeface="Lora"/>
                <a:cs typeface="Times New Roman" panose="02020603050405020304" pitchFamily="18" charset="0"/>
                <a:sym typeface="Lora"/>
              </a:rPr>
              <a:t>VPN</a:t>
            </a:r>
          </a:p>
          <a:p>
            <a:r>
              <a:rPr lang="hu-HU" sz="1600" dirty="0" smtClean="0">
                <a:solidFill>
                  <a:schemeClr val="dk1"/>
                </a:solidFill>
                <a:latin typeface="+mj-lt"/>
                <a:ea typeface="Lora"/>
                <a:cs typeface="Times New Roman" panose="02020603050405020304" pitchFamily="18" charset="0"/>
                <a:sym typeface="Lora"/>
              </a:rPr>
              <a:t>-Titkosítás van a Vezetésirészlegnél</a:t>
            </a:r>
            <a:endParaRPr sz="1600" i="0" u="none" strike="noStrike" cap="none" dirty="0">
              <a:solidFill>
                <a:schemeClr val="dk1"/>
              </a:solidFill>
              <a:latin typeface="+mj-lt"/>
              <a:ea typeface="Lora"/>
              <a:cs typeface="Times New Roman" panose="02020603050405020304" pitchFamily="18" charset="0"/>
              <a:sym typeface="Lora"/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/>
            </a:r>
            <a:br>
              <a:rPr lang="en-US" sz="1600" b="0" i="0" u="none" strike="noStrike" cap="none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</a:br>
            <a:endParaRPr sz="1600" b="0" i="0" u="none" strike="noStrike" cap="none" dirty="0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 dirty="0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7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7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7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7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7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7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7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7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6505" y="1429061"/>
            <a:ext cx="5543383" cy="43244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79400" y="1334325"/>
            <a:ext cx="5600700" cy="48209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68100" y="1174825"/>
            <a:ext cx="5006482" cy="5022339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7"/>
          <p:cNvSpPr txBox="1"/>
          <p:nvPr/>
        </p:nvSpPr>
        <p:spPr>
          <a:xfrm>
            <a:off x="4062825" y="143425"/>
            <a:ext cx="3555900" cy="6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lang="en-US" sz="35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PÉCS</a:t>
            </a:r>
            <a:endParaRPr sz="3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7"/>
          <p:cNvSpPr txBox="1"/>
          <p:nvPr/>
        </p:nvSpPr>
        <p:spPr>
          <a:xfrm>
            <a:off x="6525125" y="1334325"/>
            <a:ext cx="5054700" cy="4616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hu-HU" sz="1600" b="1" dirty="0"/>
              <a:t>DHCP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-PCS_10</a:t>
            </a:r>
            <a:r>
              <a:rPr lang="hu-HU" sz="1600" dirty="0"/>
              <a:t>: 192.168.50.0/24</a:t>
            </a:r>
            <a:br>
              <a:rPr lang="hu-HU" sz="1600" dirty="0"/>
            </a:br>
            <a:r>
              <a:rPr lang="hu-HU" sz="1600" dirty="0" smtClean="0"/>
              <a:t>-PCS_20</a:t>
            </a:r>
            <a:r>
              <a:rPr lang="hu-HU" sz="1600" dirty="0"/>
              <a:t>: 192.168.60.0/24</a:t>
            </a:r>
            <a:br>
              <a:rPr lang="hu-HU" sz="1600" dirty="0"/>
            </a:br>
            <a:r>
              <a:rPr lang="hu-HU" sz="1600" dirty="0" smtClean="0"/>
              <a:t>-Kizárt</a:t>
            </a:r>
            <a:r>
              <a:rPr lang="hu-HU" sz="1600" dirty="0"/>
              <a:t>: .1–.49, .101–.254</a:t>
            </a:r>
          </a:p>
          <a:p>
            <a:endParaRPr lang="hu-HU" sz="1600" b="1" dirty="0" smtClean="0"/>
          </a:p>
          <a:p>
            <a:r>
              <a:rPr lang="hu-HU" sz="1600" b="1" dirty="0" smtClean="0"/>
              <a:t>VLAN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-VLAN </a:t>
            </a:r>
            <a:r>
              <a:rPr lang="hu-HU" sz="1600" dirty="0"/>
              <a:t>10 – 192.168.50.1</a:t>
            </a:r>
            <a:br>
              <a:rPr lang="hu-HU" sz="1600" dirty="0"/>
            </a:br>
            <a:r>
              <a:rPr lang="hu-HU" sz="1600" dirty="0" smtClean="0"/>
              <a:t>-VLAN </a:t>
            </a:r>
            <a:r>
              <a:rPr lang="hu-HU" sz="1600" dirty="0"/>
              <a:t>20 – 192.168.60.1</a:t>
            </a:r>
            <a:br>
              <a:rPr lang="hu-HU" sz="1600" dirty="0"/>
            </a:br>
            <a:r>
              <a:rPr lang="hu-HU" sz="1600" dirty="0" smtClean="0"/>
              <a:t>-</a:t>
            </a:r>
            <a:r>
              <a:rPr lang="hu-HU" sz="1600" dirty="0" err="1" smtClean="0"/>
              <a:t>Inter</a:t>
            </a:r>
            <a:r>
              <a:rPr lang="hu-HU" sz="1600" dirty="0" smtClean="0"/>
              <a:t>-VLAN </a:t>
            </a:r>
            <a:r>
              <a:rPr lang="hu-HU" sz="1600" dirty="0" err="1"/>
              <a:t>routing</a:t>
            </a:r>
            <a:r>
              <a:rPr lang="hu-HU" sz="1600" dirty="0"/>
              <a:t>: </a:t>
            </a:r>
            <a:r>
              <a:rPr lang="hu-HU" sz="1600" dirty="0" err="1"/>
              <a:t>router</a:t>
            </a:r>
            <a:endParaRPr lang="hu-HU" sz="1600" dirty="0"/>
          </a:p>
          <a:p>
            <a:endParaRPr lang="hu-HU" sz="1600" b="1" dirty="0" smtClean="0"/>
          </a:p>
          <a:p>
            <a:r>
              <a:rPr lang="hu-HU" sz="1600" b="1" dirty="0" err="1" smtClean="0"/>
              <a:t>Routing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-OSPF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-WAN</a:t>
            </a:r>
            <a:r>
              <a:rPr lang="hu-HU" sz="1600" dirty="0"/>
              <a:t>: 172.16.0.8/30, .20/30, .28/30</a:t>
            </a:r>
          </a:p>
          <a:p>
            <a:endParaRPr lang="hu-HU" sz="1600" b="1" dirty="0" smtClean="0"/>
          </a:p>
          <a:p>
            <a:r>
              <a:rPr lang="hu-HU" sz="1600" b="1" dirty="0" smtClean="0"/>
              <a:t>ACL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-VLAN </a:t>
            </a:r>
            <a:r>
              <a:rPr lang="hu-HU" sz="1600" dirty="0"/>
              <a:t>10 ↔ VLAN 20 tiltva</a:t>
            </a:r>
            <a:br>
              <a:rPr lang="hu-HU" sz="1600" dirty="0"/>
            </a:br>
            <a:r>
              <a:rPr lang="hu-HU" sz="1600" dirty="0" smtClean="0"/>
              <a:t>-Más </a:t>
            </a:r>
            <a:r>
              <a:rPr lang="hu-HU" sz="1600" dirty="0"/>
              <a:t>telephelyek tiltva (192.168.10–40, 70–80.0/24)</a:t>
            </a:r>
            <a:br>
              <a:rPr lang="hu-HU" sz="1600" dirty="0"/>
            </a:br>
            <a:r>
              <a:rPr lang="hu-HU" sz="1600" dirty="0" smtClean="0"/>
              <a:t>-ACL 100</a:t>
            </a:r>
            <a:endParaRPr lang="hu-HU" sz="1600" dirty="0"/>
          </a:p>
        </p:txBody>
      </p:sp>
      <p:sp>
        <p:nvSpPr>
          <p:cNvPr id="106" name="Google Shape;106;p7"/>
          <p:cNvSpPr/>
          <p:nvPr/>
        </p:nvSpPr>
        <p:spPr>
          <a:xfrm>
            <a:off x="279400" y="6511121"/>
            <a:ext cx="31908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80"/>
              <a:buFont typeface="Arial"/>
              <a:buNone/>
            </a:pPr>
            <a:r>
              <a:rPr lang="en-US" sz="1080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Kettel Hálózati Rendszer – Projektbemutató</a:t>
            </a:r>
            <a:endParaRPr sz="108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Kép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930" y="1446178"/>
            <a:ext cx="5379995" cy="4483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04775" y="0"/>
            <a:ext cx="12296775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0289" y="1041225"/>
            <a:ext cx="5306030" cy="55648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65350" y="1542700"/>
            <a:ext cx="5722173" cy="420405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8"/>
          <p:cNvSpPr txBox="1"/>
          <p:nvPr/>
        </p:nvSpPr>
        <p:spPr>
          <a:xfrm>
            <a:off x="4318050" y="152625"/>
            <a:ext cx="3555900" cy="101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lang="en-US" sz="35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GYŐR</a:t>
            </a:r>
            <a:endParaRPr sz="35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8"/>
          <p:cNvSpPr txBox="1"/>
          <p:nvPr/>
        </p:nvSpPr>
        <p:spPr>
          <a:xfrm>
            <a:off x="7330450" y="2849875"/>
            <a:ext cx="4887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8"/>
          <p:cNvSpPr txBox="1"/>
          <p:nvPr/>
        </p:nvSpPr>
        <p:spPr>
          <a:xfrm>
            <a:off x="6611625" y="2880350"/>
            <a:ext cx="507900" cy="29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8"/>
          <p:cNvSpPr/>
          <p:nvPr/>
        </p:nvSpPr>
        <p:spPr>
          <a:xfrm>
            <a:off x="317500" y="8069346"/>
            <a:ext cx="31908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80"/>
              <a:buFont typeface="Arial"/>
              <a:buNone/>
            </a:pPr>
            <a:r>
              <a:rPr lang="en-US" sz="1080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Kettel Hálózati Rendszer – Projektbemutató</a:t>
            </a:r>
            <a:endParaRPr sz="108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8"/>
          <p:cNvSpPr txBox="1"/>
          <p:nvPr/>
        </p:nvSpPr>
        <p:spPr>
          <a:xfrm>
            <a:off x="637944" y="917027"/>
            <a:ext cx="5141100" cy="5455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u-HU" sz="1600" b="1" dirty="0"/>
              <a:t>DHCP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-GYR_10</a:t>
            </a:r>
            <a:r>
              <a:rPr lang="hu-HU" sz="1600" dirty="0"/>
              <a:t>: 192.168.30.0/24</a:t>
            </a:r>
            <a:br>
              <a:rPr lang="hu-HU" sz="1600" dirty="0"/>
            </a:br>
            <a:r>
              <a:rPr lang="hu-HU" sz="1600" dirty="0" smtClean="0"/>
              <a:t>-GYR_20</a:t>
            </a:r>
            <a:r>
              <a:rPr lang="hu-HU" sz="1600" dirty="0"/>
              <a:t>: 192.168.40.0/24</a:t>
            </a:r>
            <a:br>
              <a:rPr lang="hu-HU" sz="1600" dirty="0"/>
            </a:br>
            <a:r>
              <a:rPr lang="hu-HU" sz="1600" dirty="0" smtClean="0"/>
              <a:t>-Kizárt</a:t>
            </a:r>
            <a:r>
              <a:rPr lang="hu-HU" sz="1600" dirty="0"/>
              <a:t>: .1–.49, .101–.254</a:t>
            </a:r>
          </a:p>
          <a:p>
            <a:endParaRPr lang="hu-HU" sz="1600" b="1" dirty="0" smtClean="0"/>
          </a:p>
          <a:p>
            <a:r>
              <a:rPr lang="hu-HU" sz="1600" b="1" dirty="0" smtClean="0"/>
              <a:t>VLAN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-VLAN </a:t>
            </a:r>
            <a:r>
              <a:rPr lang="hu-HU" sz="1600" dirty="0"/>
              <a:t>10 – 192.168.30.1</a:t>
            </a:r>
            <a:br>
              <a:rPr lang="hu-HU" sz="1600" dirty="0"/>
            </a:br>
            <a:r>
              <a:rPr lang="hu-HU" sz="1600" dirty="0" smtClean="0"/>
              <a:t>-VLAN </a:t>
            </a:r>
            <a:r>
              <a:rPr lang="hu-HU" sz="1600" dirty="0"/>
              <a:t>20 – 192.168.40.1</a:t>
            </a:r>
            <a:br>
              <a:rPr lang="hu-HU" sz="1600" dirty="0"/>
            </a:br>
            <a:r>
              <a:rPr lang="hu-HU" sz="1600" dirty="0" smtClean="0"/>
              <a:t>-</a:t>
            </a:r>
            <a:r>
              <a:rPr lang="hu-HU" sz="1600" dirty="0" err="1" smtClean="0"/>
              <a:t>Inter</a:t>
            </a:r>
            <a:r>
              <a:rPr lang="hu-HU" sz="1600" dirty="0" smtClean="0"/>
              <a:t>-VLAN </a:t>
            </a:r>
            <a:r>
              <a:rPr lang="hu-HU" sz="1600" dirty="0" err="1"/>
              <a:t>routing</a:t>
            </a:r>
            <a:r>
              <a:rPr lang="hu-HU" sz="1600" dirty="0"/>
              <a:t>: </a:t>
            </a:r>
            <a:r>
              <a:rPr lang="hu-HU" sz="1600" dirty="0" err="1"/>
              <a:t>router</a:t>
            </a:r>
            <a:endParaRPr lang="hu-HU" sz="1600" dirty="0"/>
          </a:p>
          <a:p>
            <a:endParaRPr lang="hu-HU" sz="1600" b="1" dirty="0" smtClean="0"/>
          </a:p>
          <a:p>
            <a:r>
              <a:rPr lang="hu-HU" sz="1600" b="1" dirty="0" err="1" smtClean="0"/>
              <a:t>Routing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-OSPF</a:t>
            </a:r>
          </a:p>
          <a:p>
            <a:r>
              <a:rPr lang="hu-HU" sz="1600" dirty="0" smtClean="0"/>
              <a:t>-</a:t>
            </a:r>
            <a:r>
              <a:rPr lang="hu-HU" sz="1600" dirty="0" err="1" smtClean="0"/>
              <a:t>Static</a:t>
            </a:r>
            <a:r>
              <a:rPr lang="hu-HU" sz="1600" dirty="0" smtClean="0"/>
              <a:t> </a:t>
            </a:r>
            <a:r>
              <a:rPr lang="hu-HU" sz="1600" dirty="0" err="1" smtClean="0"/>
              <a:t>route</a:t>
            </a:r>
            <a:r>
              <a:rPr lang="hu-HU" sz="1600" dirty="0" smtClean="0"/>
              <a:t> 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-WAN</a:t>
            </a:r>
            <a:r>
              <a:rPr lang="hu-HU" sz="1600" dirty="0"/>
              <a:t>: 172.16.0.4/30, .16/30, .24/30</a:t>
            </a:r>
          </a:p>
          <a:p>
            <a:endParaRPr lang="hu-HU" sz="1600" b="1" dirty="0" smtClean="0"/>
          </a:p>
          <a:p>
            <a:r>
              <a:rPr lang="hu-HU" sz="1600" b="1" dirty="0" smtClean="0"/>
              <a:t>ACL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-VLAN </a:t>
            </a:r>
            <a:r>
              <a:rPr lang="hu-HU" sz="1600" dirty="0"/>
              <a:t>10 ↔ VLAN 20 tiltva</a:t>
            </a:r>
            <a:br>
              <a:rPr lang="hu-HU" sz="1600" dirty="0"/>
            </a:br>
            <a:r>
              <a:rPr lang="hu-HU" sz="1600" dirty="0" smtClean="0"/>
              <a:t>-Más </a:t>
            </a:r>
            <a:r>
              <a:rPr lang="hu-HU" sz="1600" dirty="0"/>
              <a:t>telephelyek tiltva (192.168.10,20,50–80.0/24)</a:t>
            </a:r>
            <a:br>
              <a:rPr lang="hu-HU" sz="1600" dirty="0"/>
            </a:br>
            <a:r>
              <a:rPr lang="hu-HU" sz="1600" dirty="0" smtClean="0"/>
              <a:t>-ACL 100</a:t>
            </a:r>
            <a:endParaRPr lang="hu-HU" sz="1600" dirty="0"/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hu-HU" sz="1600" b="1" dirty="0" err="1" smtClean="0"/>
              <a:t>Nat</a:t>
            </a:r>
            <a:endParaRPr lang="hu-HU" sz="1600" b="1" dirty="0"/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hu-HU" sz="1600" dirty="0" smtClean="0"/>
              <a:t>-Címfordítás statikusan és dinamikusan</a:t>
            </a:r>
          </a:p>
        </p:txBody>
      </p:sp>
      <p:sp>
        <p:nvSpPr>
          <p:cNvPr id="121" name="Google Shape;121;p8"/>
          <p:cNvSpPr/>
          <p:nvPr/>
        </p:nvSpPr>
        <p:spPr>
          <a:xfrm>
            <a:off x="8896425" y="6496621"/>
            <a:ext cx="31908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80"/>
              <a:buFont typeface="Arial"/>
              <a:buNone/>
            </a:pPr>
            <a:r>
              <a:rPr lang="en-US" sz="1080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Kettel Hálózati Rendszer – Projektbemutató</a:t>
            </a:r>
            <a:endParaRPr sz="108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Kép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712" y="1678474"/>
            <a:ext cx="5448088" cy="384949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9500" y="1239866"/>
            <a:ext cx="5600700" cy="4394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19913" y="1066425"/>
            <a:ext cx="5333776" cy="4849466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9"/>
          <p:cNvSpPr txBox="1"/>
          <p:nvPr/>
        </p:nvSpPr>
        <p:spPr>
          <a:xfrm>
            <a:off x="4413300" y="266900"/>
            <a:ext cx="3365400" cy="9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lang="en-US" sz="35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SZEGED</a:t>
            </a:r>
            <a:endParaRPr sz="3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9"/>
          <p:cNvSpPr txBox="1"/>
          <p:nvPr/>
        </p:nvSpPr>
        <p:spPr>
          <a:xfrm>
            <a:off x="6470638" y="1066425"/>
            <a:ext cx="5232300" cy="35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u-HU" sz="1600" b="1" dirty="0" smtClean="0"/>
              <a:t>DHCP és DHCPV6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-SZEGED_10</a:t>
            </a:r>
            <a:r>
              <a:rPr lang="hu-HU" sz="1600" dirty="0"/>
              <a:t>: 192.168.10.0/24</a:t>
            </a:r>
            <a:br>
              <a:rPr lang="hu-HU" sz="1600" dirty="0"/>
            </a:br>
            <a:r>
              <a:rPr lang="hu-HU" sz="1600" dirty="0" smtClean="0"/>
              <a:t>-SZEGED_20</a:t>
            </a:r>
            <a:r>
              <a:rPr lang="hu-HU" sz="1600" dirty="0"/>
              <a:t>: 192.168.20.0/24</a:t>
            </a:r>
            <a:br>
              <a:rPr lang="hu-HU" sz="1600" dirty="0"/>
            </a:br>
            <a:r>
              <a:rPr lang="hu-HU" sz="1600" dirty="0" smtClean="0"/>
              <a:t>-Kizárt </a:t>
            </a:r>
            <a:r>
              <a:rPr lang="hu-HU" sz="1600" dirty="0"/>
              <a:t>tartományok: .1–.49, .101–.254</a:t>
            </a:r>
          </a:p>
          <a:p>
            <a:r>
              <a:rPr lang="hu-HU" sz="1600" dirty="0" smtClean="0"/>
              <a:t>-(</a:t>
            </a:r>
            <a:r>
              <a:rPr lang="hu-HU" sz="1600" dirty="0" err="1" smtClean="0"/>
              <a:t>Dual</a:t>
            </a:r>
            <a:r>
              <a:rPr lang="hu-HU" sz="1600" dirty="0" smtClean="0"/>
              <a:t> </a:t>
            </a:r>
            <a:r>
              <a:rPr lang="hu-HU" sz="1600" dirty="0" err="1" smtClean="0"/>
              <a:t>stack</a:t>
            </a:r>
            <a:r>
              <a:rPr lang="hu-HU" sz="1600" dirty="0" smtClean="0"/>
              <a:t> </a:t>
            </a:r>
            <a:r>
              <a:rPr lang="hu-HU" sz="1600" dirty="0" err="1" smtClean="0"/>
              <a:t>ip</a:t>
            </a:r>
            <a:r>
              <a:rPr lang="hu-HU" sz="1600" dirty="0" smtClean="0"/>
              <a:t>)</a:t>
            </a:r>
          </a:p>
          <a:p>
            <a:r>
              <a:rPr lang="hu-HU" sz="1600" b="1" dirty="0" smtClean="0"/>
              <a:t>VLAN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-VLAN </a:t>
            </a:r>
            <a:r>
              <a:rPr lang="hu-HU" sz="1600" dirty="0"/>
              <a:t>10 – 192.168.10.1</a:t>
            </a:r>
            <a:br>
              <a:rPr lang="hu-HU" sz="1600" dirty="0"/>
            </a:br>
            <a:r>
              <a:rPr lang="hu-HU" sz="1600" dirty="0" smtClean="0"/>
              <a:t>-VLAN </a:t>
            </a:r>
            <a:r>
              <a:rPr lang="hu-HU" sz="1600" dirty="0"/>
              <a:t>20 – 192.168.20.1</a:t>
            </a:r>
            <a:br>
              <a:rPr lang="hu-HU" sz="1600" dirty="0"/>
            </a:br>
            <a:r>
              <a:rPr lang="hu-HU" sz="1600" dirty="0" smtClean="0"/>
              <a:t>-</a:t>
            </a:r>
            <a:r>
              <a:rPr lang="hu-HU" sz="1600" dirty="0" err="1" smtClean="0"/>
              <a:t>Inter</a:t>
            </a:r>
            <a:r>
              <a:rPr lang="hu-HU" sz="1600" dirty="0" smtClean="0"/>
              <a:t>-VLAN </a:t>
            </a:r>
            <a:r>
              <a:rPr lang="hu-HU" sz="1600" dirty="0" err="1"/>
              <a:t>routing</a:t>
            </a:r>
            <a:r>
              <a:rPr lang="hu-HU" sz="1600" dirty="0"/>
              <a:t>: </a:t>
            </a:r>
            <a:r>
              <a:rPr lang="hu-HU" sz="1600" dirty="0" err="1"/>
              <a:t>router</a:t>
            </a:r>
            <a:endParaRPr lang="hu-HU" sz="1600" dirty="0"/>
          </a:p>
          <a:p>
            <a:endParaRPr lang="hu-HU" sz="1600" b="1" dirty="0" smtClean="0"/>
          </a:p>
          <a:p>
            <a:r>
              <a:rPr lang="hu-HU" sz="1600" b="1" dirty="0" err="1" smtClean="0"/>
              <a:t>Routing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-OSPF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</a:t>
            </a:r>
            <a:r>
              <a:rPr lang="hu-HU" sz="1600" dirty="0" err="1" smtClean="0"/>
              <a:t>Static</a:t>
            </a:r>
            <a:r>
              <a:rPr lang="hu-HU" sz="1600" dirty="0" smtClean="0"/>
              <a:t> </a:t>
            </a:r>
            <a:r>
              <a:rPr lang="hu-HU" sz="1600" dirty="0" err="1" smtClean="0"/>
              <a:t>route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-WAN </a:t>
            </a:r>
            <a:r>
              <a:rPr lang="hu-HU" sz="1600" dirty="0"/>
              <a:t>hálózatok: 172.16.0.0/30, .16/30, .20/30</a:t>
            </a:r>
          </a:p>
          <a:p>
            <a:endParaRPr lang="hu-HU" sz="1600" b="1" dirty="0" smtClean="0"/>
          </a:p>
          <a:p>
            <a:r>
              <a:rPr lang="hu-HU" sz="1600" b="1" dirty="0" smtClean="0"/>
              <a:t>ACL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-VLAN </a:t>
            </a:r>
            <a:r>
              <a:rPr lang="hu-HU" sz="1600" dirty="0"/>
              <a:t>10 ↔ VLAN 20 tiltva</a:t>
            </a:r>
            <a:br>
              <a:rPr lang="hu-HU" sz="1600" dirty="0"/>
            </a:br>
            <a:r>
              <a:rPr lang="hu-HU" sz="1600" dirty="0" smtClean="0"/>
              <a:t>-Más </a:t>
            </a:r>
            <a:r>
              <a:rPr lang="hu-HU" sz="1600" dirty="0"/>
              <a:t>telephelyek tiltva (192.168.30–80.0/24)</a:t>
            </a:r>
            <a:br>
              <a:rPr lang="hu-HU" sz="1600" dirty="0"/>
            </a:br>
            <a:r>
              <a:rPr lang="hu-HU" sz="1600" dirty="0" smtClean="0"/>
              <a:t>-ACL 100</a:t>
            </a:r>
            <a:endParaRPr lang="hu-HU" sz="1600" dirty="0"/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9"/>
          <p:cNvSpPr/>
          <p:nvPr/>
        </p:nvSpPr>
        <p:spPr>
          <a:xfrm>
            <a:off x="259500" y="6451451"/>
            <a:ext cx="31908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80"/>
              <a:buFont typeface="Arial"/>
              <a:buNone/>
            </a:pPr>
            <a:r>
              <a:rPr lang="en-US" sz="1080" b="0" i="0" u="none" strike="noStrike" cap="none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Kettel</a:t>
            </a:r>
            <a:r>
              <a:rPr lang="en-US" sz="1080" b="0" i="0" u="none" strike="noStrike" cap="none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80" b="0" i="0" u="none" strike="noStrike" cap="none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Hálózati</a:t>
            </a:r>
            <a:r>
              <a:rPr lang="en-US" sz="1080" b="0" i="0" u="none" strike="noStrike" cap="none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80" b="0" i="0" u="none" strike="noStrike" cap="none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Rendszer</a:t>
            </a:r>
            <a:r>
              <a:rPr lang="en-US" sz="1080" b="0" i="0" u="none" strike="noStrike" cap="none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– </a:t>
            </a:r>
            <a:r>
              <a:rPr lang="en-US" sz="1080" b="0" i="0" u="none" strike="noStrike" cap="none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Projektbemutató</a:t>
            </a:r>
            <a:endParaRPr sz="108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Kép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136" y="1368389"/>
            <a:ext cx="5393427" cy="413715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9500" y="1541650"/>
            <a:ext cx="5600700" cy="4394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69162" y="1713615"/>
            <a:ext cx="5333776" cy="379652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9"/>
          <p:cNvSpPr txBox="1"/>
          <p:nvPr/>
        </p:nvSpPr>
        <p:spPr>
          <a:xfrm>
            <a:off x="2818384" y="310476"/>
            <a:ext cx="5834796" cy="9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lang="hu-HU" sz="3500" b="0" i="0" u="none" strike="noStrike" cap="none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KECSKEMÉT - PÉNZÜGY</a:t>
            </a:r>
            <a:endParaRPr sz="3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9"/>
          <p:cNvSpPr txBox="1"/>
          <p:nvPr/>
        </p:nvSpPr>
        <p:spPr>
          <a:xfrm>
            <a:off x="802650" y="3116575"/>
            <a:ext cx="6984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9"/>
          <p:cNvSpPr txBox="1"/>
          <p:nvPr/>
        </p:nvSpPr>
        <p:spPr>
          <a:xfrm>
            <a:off x="6525259" y="1812920"/>
            <a:ext cx="5232300" cy="35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u-HU" sz="1600" b="1" dirty="0"/>
              <a:t>DHCP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</a:t>
            </a:r>
            <a:r>
              <a:rPr lang="en-US" sz="1600" dirty="0" smtClean="0"/>
              <a:t>10.0.0.0/8</a:t>
            </a:r>
            <a:endParaRPr lang="hu-HU" sz="1600" dirty="0"/>
          </a:p>
          <a:p>
            <a:endParaRPr lang="hu-HU" sz="1600" b="1" dirty="0" smtClean="0"/>
          </a:p>
          <a:p>
            <a:r>
              <a:rPr lang="hu-HU" sz="1600" b="1" dirty="0" smtClean="0"/>
              <a:t>VLAN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-VLAN </a:t>
            </a:r>
            <a:r>
              <a:rPr lang="hu-HU" sz="1600" dirty="0"/>
              <a:t>10 – </a:t>
            </a:r>
            <a:r>
              <a:rPr lang="en-US" sz="1600" dirty="0" smtClean="0"/>
              <a:t>10.0.0.10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</a:t>
            </a:r>
            <a:r>
              <a:rPr lang="hu-HU" sz="1600" dirty="0" err="1" smtClean="0"/>
              <a:t>Inter</a:t>
            </a:r>
            <a:r>
              <a:rPr lang="hu-HU" sz="1600" dirty="0" smtClean="0"/>
              <a:t>-VLAN </a:t>
            </a:r>
            <a:r>
              <a:rPr lang="hu-HU" sz="1600" dirty="0" err="1"/>
              <a:t>routing</a:t>
            </a:r>
            <a:r>
              <a:rPr lang="hu-HU" sz="1600" dirty="0"/>
              <a:t>: </a:t>
            </a:r>
            <a:r>
              <a:rPr lang="hu-HU" sz="1600" dirty="0" err="1"/>
              <a:t>router</a:t>
            </a:r>
            <a:endParaRPr lang="hu-HU" sz="1600" dirty="0"/>
          </a:p>
          <a:p>
            <a:endParaRPr lang="hu-HU" sz="1600" b="1" dirty="0" smtClean="0"/>
          </a:p>
          <a:p>
            <a:r>
              <a:rPr lang="hu-HU" sz="1600" b="1" dirty="0" err="1" smtClean="0"/>
              <a:t>Routing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</a:t>
            </a:r>
            <a:r>
              <a:rPr lang="en-US" sz="1600" dirty="0" smtClean="0"/>
              <a:t>OSPF</a:t>
            </a:r>
            <a:endParaRPr lang="hu-HU" sz="1600" dirty="0"/>
          </a:p>
          <a:p>
            <a:endParaRPr lang="hu-HU" sz="1600" b="1" dirty="0" smtClean="0"/>
          </a:p>
          <a:p>
            <a:r>
              <a:rPr lang="hu-HU" sz="1600" b="1" dirty="0" err="1" smtClean="0"/>
              <a:t>Multilayer</a:t>
            </a:r>
            <a:r>
              <a:rPr lang="hu-HU" sz="1600" b="1" dirty="0" smtClean="0"/>
              <a:t> SW</a:t>
            </a:r>
          </a:p>
          <a:p>
            <a:endParaRPr lang="hu-HU" sz="1600" b="1" dirty="0" smtClean="0"/>
          </a:p>
        </p:txBody>
      </p:sp>
      <p:sp>
        <p:nvSpPr>
          <p:cNvPr id="134" name="Google Shape;134;p9"/>
          <p:cNvSpPr/>
          <p:nvPr/>
        </p:nvSpPr>
        <p:spPr>
          <a:xfrm>
            <a:off x="259500" y="6518396"/>
            <a:ext cx="31908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80"/>
              <a:buFont typeface="Arial"/>
              <a:buNone/>
            </a:pPr>
            <a:r>
              <a:rPr lang="en-US" sz="1080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Kettel Hálózati Rendszer – Projektbemutató</a:t>
            </a:r>
            <a:endParaRPr sz="108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Kép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692" y="2353142"/>
            <a:ext cx="3029373" cy="240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715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04775" y="0"/>
            <a:ext cx="12296775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4525" y="1544102"/>
            <a:ext cx="5400585" cy="4039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65350" y="1542700"/>
            <a:ext cx="5722173" cy="420405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8"/>
          <p:cNvSpPr txBox="1"/>
          <p:nvPr/>
        </p:nvSpPr>
        <p:spPr>
          <a:xfrm>
            <a:off x="1716324" y="210502"/>
            <a:ext cx="8654576" cy="101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lang="hu-HU" sz="3500" b="1" i="0" u="none" strike="noStrike" cap="none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DUNAÚJVÁROS - HR</a:t>
            </a:r>
            <a:endParaRPr sz="35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8"/>
          <p:cNvSpPr txBox="1"/>
          <p:nvPr/>
        </p:nvSpPr>
        <p:spPr>
          <a:xfrm>
            <a:off x="7330450" y="2849875"/>
            <a:ext cx="4887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8"/>
          <p:cNvSpPr txBox="1"/>
          <p:nvPr/>
        </p:nvSpPr>
        <p:spPr>
          <a:xfrm>
            <a:off x="6611625" y="2880350"/>
            <a:ext cx="507900" cy="29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8"/>
          <p:cNvSpPr/>
          <p:nvPr/>
        </p:nvSpPr>
        <p:spPr>
          <a:xfrm>
            <a:off x="317500" y="8069346"/>
            <a:ext cx="31908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80"/>
              <a:buFont typeface="Arial"/>
              <a:buNone/>
            </a:pPr>
            <a:r>
              <a:rPr lang="en-US" sz="1080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Kettel Hálózati Rendszer – Projektbemutató</a:t>
            </a:r>
            <a:endParaRPr sz="108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8"/>
          <p:cNvSpPr txBox="1"/>
          <p:nvPr/>
        </p:nvSpPr>
        <p:spPr>
          <a:xfrm>
            <a:off x="371590" y="1606370"/>
            <a:ext cx="5141100" cy="14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u-HU" sz="1600" b="1" dirty="0" smtClean="0"/>
              <a:t>DHCP</a:t>
            </a:r>
            <a:r>
              <a:rPr lang="en-US" sz="1600" b="1" dirty="0" smtClean="0"/>
              <a:t>v6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-DHCP</a:t>
            </a:r>
            <a:r>
              <a:rPr lang="en-US" sz="1600" dirty="0" smtClean="0"/>
              <a:t>v6 : </a:t>
            </a:r>
            <a:r>
              <a:rPr lang="en-US" sz="1600" dirty="0"/>
              <a:t>2001:DB8:ACAD:2::1/64</a:t>
            </a:r>
            <a:endParaRPr lang="hu-HU" sz="1600" dirty="0"/>
          </a:p>
          <a:p>
            <a:endParaRPr lang="hu-HU" sz="1600" b="1" dirty="0" smtClean="0"/>
          </a:p>
          <a:p>
            <a:r>
              <a:rPr lang="hu-HU" sz="1600" b="1" dirty="0" smtClean="0"/>
              <a:t>VLAN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-VLAN 10</a:t>
            </a:r>
            <a:r>
              <a:rPr lang="en-US" sz="1600" dirty="0" smtClean="0"/>
              <a:t> </a:t>
            </a:r>
            <a:r>
              <a:rPr lang="hu-HU" sz="1600" dirty="0" smtClean="0"/>
              <a:t>–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-VLAN </a:t>
            </a:r>
            <a:r>
              <a:rPr lang="hu-HU" sz="1600" dirty="0"/>
              <a:t>20 – </a:t>
            </a:r>
            <a:br>
              <a:rPr lang="hu-HU" sz="1600" dirty="0"/>
            </a:br>
            <a:r>
              <a:rPr lang="hu-HU" sz="1600" dirty="0" smtClean="0"/>
              <a:t>-</a:t>
            </a:r>
            <a:r>
              <a:rPr lang="hu-HU" sz="1600" dirty="0" err="1" smtClean="0"/>
              <a:t>Inter</a:t>
            </a:r>
            <a:r>
              <a:rPr lang="hu-HU" sz="1600" dirty="0" smtClean="0"/>
              <a:t>-VLAN </a:t>
            </a:r>
            <a:r>
              <a:rPr lang="hu-HU" sz="1600" dirty="0" err="1"/>
              <a:t>routing</a:t>
            </a:r>
            <a:r>
              <a:rPr lang="hu-HU" sz="1600" dirty="0"/>
              <a:t>: </a:t>
            </a:r>
            <a:r>
              <a:rPr lang="hu-HU" sz="1600" dirty="0" err="1"/>
              <a:t>router</a:t>
            </a:r>
            <a:r>
              <a:rPr lang="hu-HU" sz="1600" dirty="0"/>
              <a:t> végzi (tervezett).</a:t>
            </a:r>
          </a:p>
          <a:p>
            <a:endParaRPr lang="hu-HU" sz="1600" b="1" dirty="0" smtClean="0"/>
          </a:p>
          <a:p>
            <a:r>
              <a:rPr lang="hu-HU" sz="1600" b="1" dirty="0" err="1" smtClean="0"/>
              <a:t>Routing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</a:t>
            </a:r>
            <a:r>
              <a:rPr lang="hu-HU" sz="1600" dirty="0" err="1" smtClean="0"/>
              <a:t>Routing</a:t>
            </a:r>
            <a:r>
              <a:rPr lang="hu-HU" sz="1600" dirty="0" smtClean="0"/>
              <a:t> </a:t>
            </a:r>
            <a:r>
              <a:rPr lang="hu-HU" sz="1600" dirty="0"/>
              <a:t>konfiguráció fejlesztés alatt, tervezetten </a:t>
            </a:r>
            <a:r>
              <a:rPr lang="hu-HU" sz="1600" dirty="0" smtClean="0"/>
              <a:t>OSPF</a:t>
            </a:r>
            <a:r>
              <a:rPr lang="hu-HU" sz="1600" dirty="0"/>
              <a:t>, ideiglenes </a:t>
            </a:r>
            <a:r>
              <a:rPr lang="hu-HU" sz="1600" dirty="0" err="1"/>
              <a:t>router</a:t>
            </a:r>
            <a:r>
              <a:rPr lang="hu-HU" sz="1600" dirty="0"/>
              <a:t>-ID: 9.9.9.9.</a:t>
            </a:r>
          </a:p>
          <a:p>
            <a:endParaRPr lang="hu-HU" sz="1600" b="1" dirty="0" smtClean="0"/>
          </a:p>
          <a:p>
            <a:r>
              <a:rPr lang="hu-HU" sz="1600" b="1" dirty="0" smtClean="0"/>
              <a:t>IPv6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-IPv6 </a:t>
            </a:r>
            <a:r>
              <a:rPr lang="hu-HU" sz="1600" dirty="0" err="1"/>
              <a:t>unicast-routing</a:t>
            </a:r>
            <a:r>
              <a:rPr lang="hu-HU" sz="1600" dirty="0"/>
              <a:t> engedélyezve</a:t>
            </a:r>
            <a:r>
              <a:rPr lang="hu-HU" sz="1600" dirty="0" smtClean="0"/>
              <a:t>,</a:t>
            </a:r>
            <a:endParaRPr lang="hu-HU" sz="1600" dirty="0"/>
          </a:p>
        </p:txBody>
      </p:sp>
      <p:sp>
        <p:nvSpPr>
          <p:cNvPr id="121" name="Google Shape;121;p8"/>
          <p:cNvSpPr/>
          <p:nvPr/>
        </p:nvSpPr>
        <p:spPr>
          <a:xfrm>
            <a:off x="8896425" y="6496621"/>
            <a:ext cx="31908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80"/>
              <a:buFont typeface="Arial"/>
              <a:buNone/>
            </a:pPr>
            <a:r>
              <a:rPr lang="en-US" sz="1080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Kettel Hálózati Rendszer – Projektbemutató</a:t>
            </a:r>
            <a:endParaRPr sz="108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Kép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8525" y="1606370"/>
            <a:ext cx="5410130" cy="3977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6234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0"/>
          <p:cNvSpPr txBox="1"/>
          <p:nvPr/>
        </p:nvSpPr>
        <p:spPr>
          <a:xfrm>
            <a:off x="5088350" y="469750"/>
            <a:ext cx="3628500" cy="44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/>
              <a:t>TESZTELÉS</a:t>
            </a:r>
            <a:endParaRPr sz="3500"/>
          </a:p>
        </p:txBody>
      </p:sp>
      <p:pic>
        <p:nvPicPr>
          <p:cNvPr id="142" name="Google Shape;142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613" y="1615125"/>
            <a:ext cx="11874775" cy="3378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1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1"/>
          <p:cNvSpPr txBox="1"/>
          <p:nvPr/>
        </p:nvSpPr>
        <p:spPr>
          <a:xfrm>
            <a:off x="4512050" y="324775"/>
            <a:ext cx="33927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1">
                <a:solidFill>
                  <a:schemeClr val="dk1"/>
                </a:solidFill>
              </a:rPr>
              <a:t>Jira (Atlassian)</a:t>
            </a:r>
            <a:endParaRPr sz="3500"/>
          </a:p>
        </p:txBody>
      </p:sp>
      <p:sp>
        <p:nvSpPr>
          <p:cNvPr id="150" name="Google Shape;150;p11"/>
          <p:cNvSpPr txBox="1"/>
          <p:nvPr/>
        </p:nvSpPr>
        <p:spPr>
          <a:xfrm>
            <a:off x="582850" y="1238200"/>
            <a:ext cx="29100" cy="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1" name="Google Shape;151;p1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27550" y="1429875"/>
            <a:ext cx="5560632" cy="986873"/>
          </a:xfrm>
          <a:prstGeom prst="rect">
            <a:avLst/>
          </a:prstGeom>
          <a:noFill/>
          <a:ln>
            <a:noFill/>
          </a:ln>
          <a:effectLst>
            <a:reflection endPos="30000" dist="38100" dir="5400000" fadeDir="5400012" sy="-100000" algn="bl" rotWithShape="0"/>
          </a:effectLst>
        </p:spPr>
      </p:pic>
      <p:pic>
        <p:nvPicPr>
          <p:cNvPr id="152" name="Google Shape;152;p1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27550" y="2639025"/>
            <a:ext cx="3711901" cy="9868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27550" y="3848175"/>
            <a:ext cx="4045200" cy="986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5050" y="5057350"/>
            <a:ext cx="4938477" cy="986898"/>
          </a:xfrm>
          <a:prstGeom prst="rect">
            <a:avLst/>
          </a:prstGeom>
          <a:noFill/>
          <a:ln>
            <a:noFill/>
          </a:ln>
          <a:effectLst>
            <a:reflection endPos="30000" dist="38100" dir="5400000" fadeDir="5400012" sy="-100000" algn="bl" rotWithShape="0"/>
          </a:effectLst>
        </p:spPr>
      </p:pic>
      <p:sp>
        <p:nvSpPr>
          <p:cNvPr id="155" name="Google Shape;155;p11"/>
          <p:cNvSpPr/>
          <p:nvPr/>
        </p:nvSpPr>
        <p:spPr>
          <a:xfrm>
            <a:off x="327550" y="6489396"/>
            <a:ext cx="31908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80"/>
              <a:buFont typeface="Arial"/>
              <a:buNone/>
            </a:pPr>
            <a:r>
              <a:rPr lang="en-US" sz="1080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Kettel Hálózati Rendszer – Projektbemutató</a:t>
            </a:r>
            <a:endParaRPr sz="108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1"/>
          <p:cNvSpPr txBox="1"/>
          <p:nvPr/>
        </p:nvSpPr>
        <p:spPr>
          <a:xfrm>
            <a:off x="619033" y="1578187"/>
            <a:ext cx="5579156" cy="862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Font typeface="Lora"/>
              <a:buChar char="●"/>
            </a:pPr>
            <a:r>
              <a:rPr lang="en-US" sz="2000" dirty="0" err="1">
                <a:latin typeface="Lora"/>
                <a:ea typeface="Lora"/>
                <a:cs typeface="Lora"/>
                <a:sym typeface="Lora"/>
              </a:rPr>
              <a:t>Mi</a:t>
            </a:r>
            <a:r>
              <a:rPr lang="en-US" sz="2000" dirty="0">
                <a:latin typeface="Lora"/>
                <a:ea typeface="Lora"/>
                <a:cs typeface="Lora"/>
                <a:sym typeface="Lora"/>
              </a:rPr>
              <a:t> a </a:t>
            </a:r>
            <a:r>
              <a:rPr lang="en-US" sz="2000" dirty="0" err="1">
                <a:latin typeface="Lora"/>
                <a:ea typeface="Lora"/>
                <a:cs typeface="Lora"/>
                <a:sym typeface="Lora"/>
              </a:rPr>
              <a:t>célja</a:t>
            </a:r>
            <a:r>
              <a:rPr lang="en-US" sz="2000" dirty="0">
                <a:latin typeface="Lora"/>
                <a:ea typeface="Lora"/>
                <a:cs typeface="Lora"/>
                <a:sym typeface="Lora"/>
              </a:rPr>
              <a:t> a Jira </a:t>
            </a:r>
            <a:r>
              <a:rPr lang="en-US" sz="2000" dirty="0" err="1">
                <a:latin typeface="Lora"/>
                <a:ea typeface="Lora"/>
                <a:cs typeface="Lora"/>
                <a:sym typeface="Lora"/>
              </a:rPr>
              <a:t>használatának</a:t>
            </a:r>
            <a:r>
              <a:rPr lang="en-US" sz="2000" dirty="0">
                <a:latin typeface="Lora"/>
                <a:ea typeface="Lora"/>
                <a:cs typeface="Lora"/>
                <a:sym typeface="Lora"/>
              </a:rPr>
              <a:t> a </a:t>
            </a:r>
            <a:r>
              <a:rPr lang="en-US" sz="2000" dirty="0" err="1">
                <a:latin typeface="Lora"/>
                <a:ea typeface="Lora"/>
                <a:cs typeface="Lora"/>
                <a:sym typeface="Lora"/>
              </a:rPr>
              <a:t>csapatunkban</a:t>
            </a:r>
            <a:r>
              <a:rPr lang="en-US" sz="2000" dirty="0">
                <a:latin typeface="Lora"/>
                <a:ea typeface="Lora"/>
                <a:cs typeface="Lora"/>
                <a:sym typeface="Lora"/>
              </a:rPr>
              <a:t>?</a:t>
            </a:r>
            <a:endParaRPr sz="20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57" name="Google Shape;157;p11"/>
          <p:cNvSpPr txBox="1"/>
          <p:nvPr/>
        </p:nvSpPr>
        <p:spPr>
          <a:xfrm>
            <a:off x="629100" y="2886000"/>
            <a:ext cx="3711900" cy="49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Font typeface="Lora"/>
              <a:buChar char="●"/>
            </a:pPr>
            <a:r>
              <a:rPr lang="en-US" sz="1900">
                <a:latin typeface="Lora"/>
                <a:ea typeface="Lora"/>
                <a:cs typeface="Lora"/>
                <a:sym typeface="Lora"/>
              </a:rPr>
              <a:t>Hogyan működik?</a:t>
            </a:r>
            <a:endParaRPr sz="190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58" name="Google Shape;158;p11"/>
          <p:cNvSpPr txBox="1"/>
          <p:nvPr/>
        </p:nvSpPr>
        <p:spPr>
          <a:xfrm>
            <a:off x="629088" y="4052325"/>
            <a:ext cx="4045200" cy="49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US" sz="1900"/>
              <a:t>Miért jó a JIRA?</a:t>
            </a:r>
            <a:endParaRPr sz="1900"/>
          </a:p>
        </p:txBody>
      </p:sp>
      <p:sp>
        <p:nvSpPr>
          <p:cNvPr id="159" name="Google Shape;159;p11"/>
          <p:cNvSpPr txBox="1"/>
          <p:nvPr/>
        </p:nvSpPr>
        <p:spPr>
          <a:xfrm>
            <a:off x="582850" y="5314363"/>
            <a:ext cx="5002200" cy="40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Lora"/>
              <a:buChar char="●"/>
            </a:pPr>
            <a:r>
              <a:rPr lang="en-US" sz="190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Mérhetőség és Átláthatóság</a:t>
            </a:r>
            <a:endParaRPr sz="1900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Kép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7357" y="988795"/>
            <a:ext cx="5849144" cy="4325568"/>
          </a:xfrm>
          <a:prstGeom prst="rect">
            <a:avLst/>
          </a:prstGeom>
        </p:spPr>
      </p:pic>
      <p:pic>
        <p:nvPicPr>
          <p:cNvPr id="4" name="Kép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5819" y="4022829"/>
            <a:ext cx="6305412" cy="254480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2"/>
          <p:cNvSpPr txBox="1"/>
          <p:nvPr/>
        </p:nvSpPr>
        <p:spPr>
          <a:xfrm>
            <a:off x="4932550" y="335450"/>
            <a:ext cx="3653700" cy="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/>
              <a:t>GITHUB</a:t>
            </a:r>
            <a:endParaRPr sz="3500"/>
          </a:p>
        </p:txBody>
      </p:sp>
      <p:sp>
        <p:nvSpPr>
          <p:cNvPr id="168" name="Google Shape;168;p12"/>
          <p:cNvSpPr txBox="1"/>
          <p:nvPr/>
        </p:nvSpPr>
        <p:spPr>
          <a:xfrm>
            <a:off x="916325" y="1789175"/>
            <a:ext cx="1797900" cy="79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9" name="Google Shape;169;p1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58818" y="4832525"/>
            <a:ext cx="4851600" cy="939477"/>
          </a:xfrm>
          <a:prstGeom prst="rect">
            <a:avLst/>
          </a:prstGeom>
          <a:noFill/>
          <a:ln>
            <a:noFill/>
          </a:ln>
          <a:effectLst>
            <a:reflection endPos="30000" dist="38100" dir="5400000" fadeDir="5400012" sy="-100000" algn="bl" rotWithShape="0"/>
          </a:effectLst>
        </p:spPr>
      </p:pic>
      <p:pic>
        <p:nvPicPr>
          <p:cNvPr id="170" name="Google Shape;170;p1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4163" y="3374017"/>
            <a:ext cx="4286000" cy="939477"/>
          </a:xfrm>
          <a:prstGeom prst="rect">
            <a:avLst/>
          </a:prstGeom>
          <a:noFill/>
          <a:ln>
            <a:noFill/>
          </a:ln>
          <a:effectLst>
            <a:reflection endPos="30000" dist="38100" dir="5400000" fadeDir="5400012" sy="-100000" algn="bl" rotWithShape="0"/>
          </a:effectLst>
        </p:spPr>
      </p:pic>
      <p:pic>
        <p:nvPicPr>
          <p:cNvPr id="171" name="Google Shape;171;p1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02001" y="1327258"/>
            <a:ext cx="2073325" cy="2073325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2"/>
          <p:cNvSpPr txBox="1"/>
          <p:nvPr/>
        </p:nvSpPr>
        <p:spPr>
          <a:xfrm>
            <a:off x="810313" y="3429000"/>
            <a:ext cx="3653700" cy="6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746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300"/>
              <a:buFont typeface="Lora"/>
              <a:buChar char="●"/>
            </a:pPr>
            <a:r>
              <a:rPr lang="en-US" sz="2300" dirty="0"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hu-HU" sz="2300" dirty="0" smtClean="0">
                <a:latin typeface="Lora"/>
                <a:ea typeface="Lora"/>
                <a:cs typeface="Lora"/>
                <a:sym typeface="Lora"/>
              </a:rPr>
              <a:t>M</a:t>
            </a:r>
            <a:r>
              <a:rPr lang="en-US" sz="2300" dirty="0" smtClean="0">
                <a:latin typeface="Lora"/>
                <a:ea typeface="Lora"/>
                <a:cs typeface="Lora"/>
                <a:sym typeface="Lora"/>
              </a:rPr>
              <a:t>ire </a:t>
            </a:r>
            <a:r>
              <a:rPr lang="en-US" sz="2300" dirty="0" err="1">
                <a:latin typeface="Lora"/>
                <a:ea typeface="Lora"/>
                <a:cs typeface="Lora"/>
                <a:sym typeface="Lora"/>
              </a:rPr>
              <a:t>használjuk</a:t>
            </a:r>
            <a:r>
              <a:rPr lang="en-US" sz="2300" dirty="0">
                <a:latin typeface="Lora"/>
                <a:ea typeface="Lora"/>
                <a:cs typeface="Lora"/>
                <a:sym typeface="Lora"/>
              </a:rPr>
              <a:t>?</a:t>
            </a:r>
            <a:endParaRPr sz="2300" dirty="0">
              <a:latin typeface="Lora"/>
              <a:ea typeface="Lora"/>
              <a:cs typeface="Lora"/>
              <a:sym typeface="Lora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3" name="Google Shape;173;p12"/>
          <p:cNvSpPr txBox="1"/>
          <p:nvPr/>
        </p:nvSpPr>
        <p:spPr>
          <a:xfrm>
            <a:off x="810313" y="4876759"/>
            <a:ext cx="4465800" cy="4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746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300"/>
              <a:buFont typeface="Lora"/>
              <a:buChar char="●"/>
            </a:pPr>
            <a:r>
              <a:rPr lang="en-US" sz="2300" dirty="0" err="1">
                <a:latin typeface="Lora"/>
                <a:ea typeface="Lora"/>
                <a:cs typeface="Lora"/>
                <a:sym typeface="Lora"/>
              </a:rPr>
              <a:t>Miért</a:t>
            </a:r>
            <a:r>
              <a:rPr lang="en-US" sz="2300" dirty="0">
                <a:latin typeface="Lora"/>
                <a:ea typeface="Lora"/>
                <a:cs typeface="Lora"/>
                <a:sym typeface="Lora"/>
              </a:rPr>
              <a:t> </a:t>
            </a:r>
            <a:r>
              <a:rPr lang="en-US" sz="2300" dirty="0" err="1">
                <a:latin typeface="Lora"/>
                <a:ea typeface="Lora"/>
                <a:cs typeface="Lora"/>
                <a:sym typeface="Lora"/>
              </a:rPr>
              <a:t>jó</a:t>
            </a:r>
            <a:r>
              <a:rPr lang="en-US" sz="2300" dirty="0">
                <a:latin typeface="Lora"/>
                <a:ea typeface="Lora"/>
                <a:cs typeface="Lora"/>
                <a:sym typeface="Lora"/>
              </a:rPr>
              <a:t> a GitHub?</a:t>
            </a:r>
            <a:endParaRPr sz="2300" dirty="0">
              <a:latin typeface="Lora"/>
              <a:ea typeface="Lora"/>
              <a:cs typeface="Lora"/>
              <a:sym typeface="Lora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2" name="Kép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4326" y="1564523"/>
            <a:ext cx="6677957" cy="295316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1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13"/>
          <p:cNvSpPr txBox="1"/>
          <p:nvPr/>
        </p:nvSpPr>
        <p:spPr>
          <a:xfrm>
            <a:off x="1403400" y="2298375"/>
            <a:ext cx="10334100" cy="27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Arial"/>
              <a:buNone/>
            </a:pPr>
            <a:r>
              <a:rPr lang="en-US" sz="5300" b="0" i="0" u="none" strike="noStrike" cap="none">
                <a:solidFill>
                  <a:srgbClr val="000000"/>
                </a:solidFill>
                <a:latin typeface="Lora"/>
                <a:ea typeface="Lora"/>
                <a:cs typeface="Lora"/>
                <a:sym typeface="Lora"/>
              </a:rPr>
              <a:t>Köszönjük Szépen a Figyelmet!</a:t>
            </a:r>
            <a:endParaRPr sz="5300" b="0" i="0" u="none" strike="noStrike" cap="none">
              <a:solidFill>
                <a:srgbClr val="000000"/>
              </a:solidFill>
              <a:latin typeface="Lora"/>
              <a:ea typeface="Lora"/>
              <a:cs typeface="Lora"/>
              <a:sym typeface="Lor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360</Words>
  <Application>Microsoft Office PowerPoint</Application>
  <PresentationFormat>Szélesvásznú</PresentationFormat>
  <Paragraphs>148</Paragraphs>
  <Slides>13</Slides>
  <Notes>13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8" baseType="lpstr">
      <vt:lpstr>Lora</vt:lpstr>
      <vt:lpstr>Calibri</vt:lpstr>
      <vt:lpstr>Arial</vt:lpstr>
      <vt:lpstr>Times New Roman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admin</dc:creator>
  <cp:lastModifiedBy>Lenovo</cp:lastModifiedBy>
  <cp:revision>16</cp:revision>
  <dcterms:modified xsi:type="dcterms:W3CDTF">2026-02-19T10:15:01Z</dcterms:modified>
</cp:coreProperties>
</file>