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0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ora" panose="020B0604020202020204" charset="-18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4263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03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afaa65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afaa6544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8afaa6544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5000" y="1428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0" y="28575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500" y="42862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0" y="5715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0" y="1905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0" y="3810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5238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4974" y="1122225"/>
            <a:ext cx="847500" cy="6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5376" y="1122225"/>
            <a:ext cx="678000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1105748" y="2124075"/>
            <a:ext cx="99803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Kettel Hálózati Rendszer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32555" y="2847975"/>
            <a:ext cx="392674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Projektbemutató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502275" y="3567100"/>
            <a:ext cx="7315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Arial"/>
              <a:buNone/>
            </a:pPr>
            <a:r>
              <a:rPr lang="en-US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Készítette: Mihálovics József Alex(PM),Vaszlavik Dominik,Németh Kristóf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00" y="0"/>
            <a:ext cx="12192000" cy="6856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5500" y="640625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295400"/>
            <a:ext cx="5486400" cy="3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4600" y="958066"/>
            <a:ext cx="5486400" cy="569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6525" y="2227635"/>
            <a:ext cx="655350" cy="6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35640" y="2976072"/>
            <a:ext cx="655350" cy="61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34172" y="3762989"/>
            <a:ext cx="655350" cy="6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98263" y="4738964"/>
            <a:ext cx="655350" cy="5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-803564" y="20984"/>
            <a:ext cx="13716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Font typeface="Arial"/>
              <a:buNone/>
            </a:pPr>
            <a:r>
              <a:rPr lang="en-US" sz="3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Bemutató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09600" y="1826875"/>
            <a:ext cx="60351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en-US" sz="246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Kettel Hálózati rendszer:</a:t>
            </a:r>
            <a:endParaRPr sz="2460" b="0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09600" y="2506855"/>
            <a:ext cx="5029200" cy="22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 err="1">
                <a:solidFill>
                  <a:schemeClr val="dk1"/>
                </a:solidFill>
              </a:rPr>
              <a:t>Hálózatunk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egy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központilag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irányított</a:t>
            </a:r>
            <a:r>
              <a:rPr lang="en-US" sz="1500" dirty="0">
                <a:solidFill>
                  <a:schemeClr val="dk1"/>
                </a:solidFill>
              </a:rPr>
              <a:t>, </a:t>
            </a:r>
            <a:r>
              <a:rPr lang="en-US" sz="1500" dirty="0" err="1">
                <a:solidFill>
                  <a:schemeClr val="dk1"/>
                </a:solidFill>
              </a:rPr>
              <a:t>országos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lefedettségű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informatikai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infrastruktúra</a:t>
            </a:r>
            <a:r>
              <a:rPr lang="en-US" sz="1500" dirty="0">
                <a:solidFill>
                  <a:schemeClr val="dk1"/>
                </a:solidFill>
              </a:rPr>
              <a:t>, </a:t>
            </a:r>
            <a:r>
              <a:rPr lang="en-US" sz="1500" dirty="0" err="1">
                <a:solidFill>
                  <a:schemeClr val="dk1"/>
                </a:solidFill>
              </a:rPr>
              <a:t>amely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biztonságos</a:t>
            </a:r>
            <a:r>
              <a:rPr lang="en-US" sz="1500" b="1" dirty="0">
                <a:solidFill>
                  <a:schemeClr val="dk1"/>
                </a:solidFill>
              </a:rPr>
              <a:t>, </a:t>
            </a:r>
            <a:r>
              <a:rPr lang="en-US" sz="1500" b="1" dirty="0" err="1">
                <a:solidFill>
                  <a:schemeClr val="dk1"/>
                </a:solidFill>
              </a:rPr>
              <a:t>titkosított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összeköttetésekkel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kapcsolja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össze</a:t>
            </a:r>
            <a:r>
              <a:rPr lang="en-US" sz="1500" dirty="0">
                <a:solidFill>
                  <a:schemeClr val="dk1"/>
                </a:solidFill>
              </a:rPr>
              <a:t> a </a:t>
            </a:r>
            <a:r>
              <a:rPr lang="en-US" sz="1500" dirty="0" err="1">
                <a:solidFill>
                  <a:schemeClr val="dk1"/>
                </a:solidFill>
              </a:rPr>
              <a:t>telephelyeket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15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500" dirty="0" err="1">
                <a:solidFill>
                  <a:schemeClr val="dk1"/>
                </a:solidFill>
              </a:rPr>
              <a:t>Célja</a:t>
            </a:r>
            <a:r>
              <a:rPr lang="en-US" sz="1500" dirty="0">
                <a:solidFill>
                  <a:schemeClr val="dk1"/>
                </a:solidFill>
              </a:rPr>
              <a:t> a </a:t>
            </a:r>
            <a:r>
              <a:rPr lang="en-US" sz="1500" b="1" dirty="0" err="1">
                <a:solidFill>
                  <a:schemeClr val="dk1"/>
                </a:solidFill>
              </a:rPr>
              <a:t>megbízható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adatkapcsolat</a:t>
            </a:r>
            <a:r>
              <a:rPr lang="en-US" sz="1500" dirty="0">
                <a:solidFill>
                  <a:schemeClr val="dk1"/>
                </a:solidFill>
              </a:rPr>
              <a:t>, a </a:t>
            </a:r>
            <a:r>
              <a:rPr lang="en-US" sz="1500" b="1" dirty="0" err="1">
                <a:solidFill>
                  <a:schemeClr val="dk1"/>
                </a:solidFill>
              </a:rPr>
              <a:t>hatékony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információáramlás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és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az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egységes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központi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felügyelet</a:t>
            </a:r>
            <a:r>
              <a:rPr lang="en-US" sz="1500" b="1" dirty="0">
                <a:solidFill>
                  <a:schemeClr val="dk1"/>
                </a:solidFill>
              </a:rPr>
              <a:t>.</a:t>
            </a:r>
            <a:endParaRPr sz="19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553200" y="1274415"/>
            <a:ext cx="6035040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hálózat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négy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telephelyet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köt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össze</a:t>
            </a:r>
            <a:r>
              <a:rPr lang="hu-HU" sz="1800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és kettő </a:t>
            </a:r>
            <a:r>
              <a:rPr lang="hu-HU" sz="1800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mellékhelyet</a:t>
            </a:r>
            <a:r>
              <a:rPr lang="hu-HU" sz="1800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</a:t>
            </a:r>
            <a:endParaRPr sz="286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467600" y="2142976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Szeged</a:t>
            </a:r>
            <a:endParaRPr sz="175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467600" y="24477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üzlet (értékesítési és ügyfélszolgálati pont),</a:t>
            </a:r>
            <a:endParaRPr sz="1500" b="0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430850" y="2860269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Győr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396213" y="317979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iroda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(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regionális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adminisztráció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és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ügyfélkezelés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404234" y="3639203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Budapest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364701" y="395664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telephely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(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központi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szerverek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adatközpont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és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vezetés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404234" y="4610140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Pécs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430850" y="494420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iroda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támogató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és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karbantartási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részleg</a:t>
            </a:r>
            <a:r>
              <a:rPr lang="en-US" sz="14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81000" y="6271171"/>
            <a:ext cx="3190935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6659850" y="2318325"/>
            <a:ext cx="5487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SZ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6751996" y="3095207"/>
            <a:ext cx="548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GY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6824922" y="3877865"/>
            <a:ext cx="3174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6794814" y="4842681"/>
            <a:ext cx="317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19224" y="6070732"/>
            <a:ext cx="431164" cy="42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9509" y="5487402"/>
            <a:ext cx="450879" cy="4323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églalap 1"/>
          <p:cNvSpPr/>
          <p:nvPr/>
        </p:nvSpPr>
        <p:spPr>
          <a:xfrm>
            <a:off x="7208550" y="5441013"/>
            <a:ext cx="1996059" cy="390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5555"/>
              </a:lnSpc>
              <a:buClr>
                <a:srgbClr val="333333"/>
              </a:buClr>
              <a:buSzPts val="1350"/>
            </a:pPr>
            <a:r>
              <a:rPr lang="hu-HU" b="1" dirty="0" smtClean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DUNAÚJVÁROS - HR</a:t>
            </a:r>
            <a:endParaRPr lang="en-US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" name="Téglalap 2"/>
          <p:cNvSpPr/>
          <p:nvPr/>
        </p:nvSpPr>
        <p:spPr>
          <a:xfrm>
            <a:off x="7208549" y="6040863"/>
            <a:ext cx="2392001" cy="428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5555"/>
              </a:lnSpc>
              <a:buClr>
                <a:srgbClr val="333333"/>
              </a:buClr>
              <a:buSzPts val="1350"/>
            </a:pPr>
            <a:r>
              <a:rPr lang="hu-HU" b="1" dirty="0" smtClean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KECSKEMÉT - PÉNZÜGY </a:t>
            </a:r>
            <a:endParaRPr lang="en-US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" name="Téglalap 3"/>
          <p:cNvSpPr/>
          <p:nvPr/>
        </p:nvSpPr>
        <p:spPr>
          <a:xfrm>
            <a:off x="6776945" y="5560431"/>
            <a:ext cx="3145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b="1" dirty="0" smtClean="0"/>
              <a:t>D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6784070" y="6140558"/>
            <a:ext cx="3145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b="1" dirty="0" smtClean="0"/>
              <a:t>K</a:t>
            </a: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0650" y="0"/>
            <a:ext cx="31813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500"/>
            <a:ext cx="2667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0" y="1028700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3613" y="2225950"/>
            <a:ext cx="4439512" cy="32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61709" y="1571600"/>
            <a:ext cx="6248643" cy="4843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5325" y="271641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15325" y="385941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82250" y="385941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91775" y="3983236"/>
            <a:ext cx="19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Hálózat Bemutatása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9925" y="2225948"/>
            <a:ext cx="4333200" cy="22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en-US" sz="19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Ezt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bemutatás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egy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vizuálisan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megtervezett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szimulációs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környezetben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hoztunk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létre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 A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rendszer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célja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hogy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szemléltessük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hogyan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működik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KETTEL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hálózat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lang="hu-HU" sz="1800" b="0" i="0" u="none" strike="noStrike" cap="none" dirty="0" smtClean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endParaRPr lang="hu-HU" sz="1800" b="0" i="0" u="none" strike="noStrike" cap="none" dirty="0" smtClean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hu-HU" sz="1600" dirty="0" smtClean="0">
                <a:solidFill>
                  <a:schemeClr val="dk1"/>
                </a:solidFill>
                <a:latin typeface="Lora" panose="020B0604020202020204" charset="-18"/>
                <a:ea typeface="Lora"/>
                <a:cs typeface="Lora"/>
                <a:sym typeface="Lora"/>
              </a:rPr>
              <a:t>Fontos </a:t>
            </a:r>
            <a:r>
              <a:rPr lang="hu-HU" sz="1600" dirty="0" err="1" smtClean="0">
                <a:solidFill>
                  <a:schemeClr val="dk1"/>
                </a:solidFill>
                <a:latin typeface="Lora" panose="020B0604020202020204" charset="-18"/>
                <a:ea typeface="Lora"/>
                <a:cs typeface="Lora"/>
                <a:sym typeface="Lora"/>
              </a:rPr>
              <a:t>Hozzafűzni</a:t>
            </a:r>
            <a:r>
              <a:rPr lang="hu-HU" sz="1600" dirty="0" smtClean="0">
                <a:solidFill>
                  <a:schemeClr val="dk1"/>
                </a:solidFill>
                <a:latin typeface="Lora" panose="020B0604020202020204" charset="-18"/>
                <a:ea typeface="Lora"/>
                <a:cs typeface="Lora"/>
                <a:sym typeface="Lora"/>
              </a:rPr>
              <a:t> hogy az összes </a:t>
            </a:r>
            <a:r>
              <a:rPr lang="hu-HU" sz="1600" dirty="0" err="1" smtClean="0">
                <a:solidFill>
                  <a:schemeClr val="dk1"/>
                </a:solidFill>
                <a:latin typeface="Lora" panose="020B0604020202020204" charset="-18"/>
                <a:ea typeface="Lora"/>
                <a:cs typeface="Lora"/>
                <a:sym typeface="Lora"/>
              </a:rPr>
              <a:t>routerrel</a:t>
            </a:r>
            <a:r>
              <a:rPr lang="hu-HU" sz="1600" dirty="0" smtClean="0">
                <a:solidFill>
                  <a:schemeClr val="dk1"/>
                </a:solidFill>
                <a:latin typeface="Lora" panose="020B0604020202020204" charset="-18"/>
                <a:ea typeface="Lora"/>
                <a:cs typeface="Lora"/>
                <a:sym typeface="Lora"/>
              </a:rPr>
              <a:t> lehetséges az SSH kapcsolat</a:t>
            </a:r>
            <a:endParaRPr lang="hu-HU" sz="1800" dirty="0">
              <a:solidFill>
                <a:schemeClr val="dk1"/>
              </a:solidFill>
              <a:latin typeface="Lora" panose="020B0604020202020204" charset="-18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09160" y="1524000"/>
            <a:ext cx="7498080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en-US" sz="2160" b="0" i="0" u="none" strike="noStrike" cap="none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Cisco Packet Tracer - 8.2.2</a:t>
            </a:r>
            <a:endParaRPr sz="2160" b="0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981950" y="3306961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de contrôle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00850" y="4640461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Routeur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1000" y="6547396"/>
            <a:ext cx="3190935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1935362"/>
            <a:ext cx="5943600" cy="4389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025" y="1174950"/>
            <a:ext cx="5170527" cy="50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188" y="1244288"/>
            <a:ext cx="5600700" cy="472697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/>
        </p:nvSpPr>
        <p:spPr>
          <a:xfrm>
            <a:off x="4616250" y="287575"/>
            <a:ext cx="2959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BUDAPEST</a:t>
            </a:r>
            <a:endParaRPr sz="35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34025" y="64632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2;p6"/>
          <p:cNvSpPr txBox="1"/>
          <p:nvPr/>
        </p:nvSpPr>
        <p:spPr>
          <a:xfrm>
            <a:off x="746588" y="1587199"/>
            <a:ext cx="4745400" cy="448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/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2;p6"/>
          <p:cNvSpPr txBox="1"/>
          <p:nvPr/>
        </p:nvSpPr>
        <p:spPr>
          <a:xfrm>
            <a:off x="746588" y="1188455"/>
            <a:ext cx="4745400" cy="448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endParaRPr lang="hu-HU" sz="1600" dirty="0"/>
          </a:p>
          <a:p>
            <a:r>
              <a:rPr lang="hu-HU" sz="1600" dirty="0" smtClean="0"/>
              <a:t>-BUDAPEST_10 </a:t>
            </a:r>
            <a:r>
              <a:rPr lang="hu-HU" sz="1600" dirty="0"/>
              <a:t>→ 192.168.70.0/24</a:t>
            </a:r>
          </a:p>
          <a:p>
            <a:r>
              <a:rPr lang="hu-HU" sz="1600" dirty="0" smtClean="0"/>
              <a:t>-BUDAPEST_20 </a:t>
            </a:r>
            <a:r>
              <a:rPr lang="hu-HU" sz="1600" dirty="0"/>
              <a:t>→ 192.168.80.0/24</a:t>
            </a:r>
          </a:p>
          <a:p>
            <a:r>
              <a:rPr lang="hu-HU" sz="1600" dirty="0" smtClean="0"/>
              <a:t>-Kizárt </a:t>
            </a:r>
            <a:r>
              <a:rPr lang="hu-HU" sz="1600" dirty="0"/>
              <a:t>címek: </a:t>
            </a:r>
            <a:r>
              <a:rPr lang="hu-HU" sz="1600" b="1" dirty="0"/>
              <a:t>.1–.49 és .101–.</a:t>
            </a:r>
            <a:r>
              <a:rPr lang="hu-HU" sz="1600" b="1" dirty="0" smtClean="0"/>
              <a:t>254</a:t>
            </a:r>
          </a:p>
          <a:p>
            <a:r>
              <a:rPr lang="hu-HU" sz="1600" b="1" dirty="0" smtClean="0"/>
              <a:t>VLAN</a:t>
            </a:r>
            <a:endParaRPr lang="hu-HU" sz="1600" dirty="0"/>
          </a:p>
          <a:p>
            <a:r>
              <a:rPr lang="hu-HU" sz="1600" dirty="0" smtClean="0"/>
              <a:t>-VLAN </a:t>
            </a:r>
            <a:r>
              <a:rPr lang="hu-HU" sz="1600" dirty="0"/>
              <a:t>10 – 192.168.70.1</a:t>
            </a:r>
          </a:p>
          <a:p>
            <a:r>
              <a:rPr lang="hu-HU" sz="1600" dirty="0" smtClean="0"/>
              <a:t>-VLAN </a:t>
            </a:r>
            <a:r>
              <a:rPr lang="hu-HU" sz="1600" dirty="0"/>
              <a:t>20 – 192.168.80.1</a:t>
            </a:r>
          </a:p>
          <a:p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b="1" dirty="0" err="1"/>
              <a:t>router</a:t>
            </a:r>
            <a:r>
              <a:rPr lang="hu-HU" sz="1600" b="1" dirty="0"/>
              <a:t> végzi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endParaRPr lang="hu-HU" sz="1600" dirty="0"/>
          </a:p>
          <a:p>
            <a:r>
              <a:rPr lang="hu-HU" sz="1600" dirty="0" smtClean="0"/>
              <a:t>-</a:t>
            </a:r>
            <a:r>
              <a:rPr lang="hu-HU" sz="1600" dirty="0" smtClean="0"/>
              <a:t>OSPF</a:t>
            </a:r>
            <a:endParaRPr lang="hu-HU" sz="1600" dirty="0"/>
          </a:p>
          <a:p>
            <a:r>
              <a:rPr lang="hu-HU" sz="1600" dirty="0" smtClean="0"/>
              <a:t>-</a:t>
            </a:r>
            <a:r>
              <a:rPr lang="hu-HU" sz="1600" dirty="0" smtClean="0"/>
              <a:t>Kapcsolat </a:t>
            </a:r>
            <a:r>
              <a:rPr lang="hu-HU" sz="1600" dirty="0"/>
              <a:t>a többi telephellyel OSPF-en keresztül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endParaRPr lang="hu-HU" sz="1600" dirty="0"/>
          </a:p>
          <a:p>
            <a:r>
              <a:rPr lang="hu-HU" sz="1600" dirty="0" smtClean="0"/>
              <a:t>-Tiltja </a:t>
            </a:r>
            <a:r>
              <a:rPr lang="hu-HU" sz="1600" dirty="0"/>
              <a:t>a VLAN 10 ↔ VLAN 20 közti forgalmat</a:t>
            </a:r>
          </a:p>
          <a:p>
            <a:r>
              <a:rPr lang="hu-HU" sz="1600" dirty="0" smtClean="0"/>
              <a:t>-Tiltja </a:t>
            </a:r>
            <a:r>
              <a:rPr lang="hu-HU" sz="1600" dirty="0"/>
              <a:t>a más városok hálózatainak közvetlen </a:t>
            </a:r>
            <a:r>
              <a:rPr lang="hu-HU" sz="1600" dirty="0" smtClean="0"/>
              <a:t>elérését</a:t>
            </a:r>
          </a:p>
          <a:p>
            <a:r>
              <a:rPr lang="hu-HU" sz="1600" b="1" dirty="0" smtClean="0">
                <a:solidFill>
                  <a:schemeClr val="dk1"/>
                </a:solidFill>
                <a:latin typeface="+mj-lt"/>
                <a:ea typeface="Lora"/>
                <a:cs typeface="Times New Roman" panose="02020603050405020304" pitchFamily="18" charset="0"/>
                <a:sym typeface="Lora"/>
              </a:rPr>
              <a:t>VPN</a:t>
            </a:r>
          </a:p>
          <a:p>
            <a:r>
              <a:rPr lang="hu-HU" sz="1600" dirty="0" smtClean="0">
                <a:solidFill>
                  <a:schemeClr val="dk1"/>
                </a:solidFill>
                <a:latin typeface="+mj-lt"/>
                <a:ea typeface="Lora"/>
                <a:cs typeface="Times New Roman" panose="02020603050405020304" pitchFamily="18" charset="0"/>
                <a:sym typeface="Lora"/>
              </a:rPr>
              <a:t>-Titkosítás van a Vezetésirészlegnél</a:t>
            </a:r>
            <a:endParaRPr sz="1600" i="0" u="none" strike="noStrike" cap="none" dirty="0">
              <a:solidFill>
                <a:schemeClr val="dk1"/>
              </a:solidFill>
              <a:latin typeface="+mj-lt"/>
              <a:ea typeface="Lora"/>
              <a:cs typeface="Times New Roman" panose="02020603050405020304" pitchFamily="18" charset="0"/>
              <a:sym typeface="Lor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/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505" y="1429061"/>
            <a:ext cx="5543383" cy="432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400" y="1334325"/>
            <a:ext cx="5600700" cy="482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8100" y="1174825"/>
            <a:ext cx="5006482" cy="5022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4062825" y="143425"/>
            <a:ext cx="35559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PÉCS</a:t>
            </a:r>
            <a:endParaRPr sz="3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6525125" y="1334325"/>
            <a:ext cx="505470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-PCS_10</a:t>
            </a:r>
            <a:r>
              <a:rPr lang="hu-HU" sz="1600" dirty="0"/>
              <a:t>: 192.168.50.0/24</a:t>
            </a:r>
            <a:br>
              <a:rPr lang="hu-HU" sz="1600" dirty="0"/>
            </a:br>
            <a:r>
              <a:rPr lang="hu-HU" sz="1600" dirty="0" smtClean="0"/>
              <a:t>-PCS_20</a:t>
            </a:r>
            <a:r>
              <a:rPr lang="hu-HU" sz="1600" dirty="0"/>
              <a:t>: 192.168.60.0/24</a:t>
            </a:r>
            <a:br>
              <a:rPr lang="hu-HU" sz="1600" dirty="0"/>
            </a:br>
            <a:r>
              <a:rPr lang="hu-HU" sz="1600" dirty="0" smtClean="0"/>
              <a:t>-Kizárt</a:t>
            </a:r>
            <a:r>
              <a:rPr lang="hu-HU" sz="1600" dirty="0"/>
              <a:t>: .1–.49, .101–.254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192.168.50.1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192.168.60.1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smtClean="0"/>
              <a:t>OSPF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</a:t>
            </a:r>
            <a:r>
              <a:rPr lang="hu-HU" sz="1600" dirty="0"/>
              <a:t>: 172.16.0.8/30, .20/30, .28/30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20 tiltva</a:t>
            </a:r>
            <a:br>
              <a:rPr lang="hu-HU" sz="1600" dirty="0"/>
            </a:br>
            <a:r>
              <a:rPr lang="hu-HU" sz="1600" dirty="0" smtClean="0"/>
              <a:t>-Más </a:t>
            </a:r>
            <a:r>
              <a:rPr lang="hu-HU" sz="1600" dirty="0"/>
              <a:t>telephelyek tiltva (192.168.10–40, 70–80.0/24)</a:t>
            </a:r>
            <a:br>
              <a:rPr lang="hu-HU" sz="1600" dirty="0"/>
            </a:br>
            <a:r>
              <a:rPr lang="hu-HU" sz="1600" dirty="0" smtClean="0"/>
              <a:t>-ACL </a:t>
            </a:r>
            <a:r>
              <a:rPr lang="hu-HU" sz="1600" dirty="0" smtClean="0"/>
              <a:t>100</a:t>
            </a:r>
            <a:endParaRPr lang="hu-HU" sz="1600" dirty="0"/>
          </a:p>
        </p:txBody>
      </p:sp>
      <p:sp>
        <p:nvSpPr>
          <p:cNvPr id="106" name="Google Shape;106;p7"/>
          <p:cNvSpPr/>
          <p:nvPr/>
        </p:nvSpPr>
        <p:spPr>
          <a:xfrm>
            <a:off x="279400" y="65111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30" y="1446178"/>
            <a:ext cx="5379995" cy="4483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775" y="0"/>
            <a:ext cx="1229677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289" y="1041225"/>
            <a:ext cx="5306030" cy="556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350" y="1542700"/>
            <a:ext cx="5722173" cy="42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/>
        </p:nvSpPr>
        <p:spPr>
          <a:xfrm>
            <a:off x="4318050" y="152625"/>
            <a:ext cx="3555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GYŐR</a:t>
            </a:r>
            <a:endParaRPr sz="3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330450" y="2849875"/>
            <a:ext cx="488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611625" y="2880350"/>
            <a:ext cx="507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17500" y="80693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37944" y="917027"/>
            <a:ext cx="5141100" cy="545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-GYR_10</a:t>
            </a:r>
            <a:r>
              <a:rPr lang="hu-HU" sz="1600" dirty="0"/>
              <a:t>: 192.168.30.0/24</a:t>
            </a:r>
            <a:br>
              <a:rPr lang="hu-HU" sz="1600" dirty="0"/>
            </a:br>
            <a:r>
              <a:rPr lang="hu-HU" sz="1600" dirty="0" smtClean="0"/>
              <a:t>-GYR_20</a:t>
            </a:r>
            <a:r>
              <a:rPr lang="hu-HU" sz="1600" dirty="0"/>
              <a:t>: 192.168.40.0/24</a:t>
            </a:r>
            <a:br>
              <a:rPr lang="hu-HU" sz="1600" dirty="0"/>
            </a:br>
            <a:r>
              <a:rPr lang="hu-HU" sz="1600" dirty="0" smtClean="0"/>
              <a:t>-Kizárt</a:t>
            </a:r>
            <a:r>
              <a:rPr lang="hu-HU" sz="1600" dirty="0"/>
              <a:t>: .1–.49, .101–.254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192.168.30.1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192.168.40.1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smtClean="0"/>
              <a:t>OSPF</a:t>
            </a:r>
          </a:p>
          <a:p>
            <a:r>
              <a:rPr lang="hu-HU" sz="1600" dirty="0" smtClean="0"/>
              <a:t>-</a:t>
            </a:r>
            <a:r>
              <a:rPr lang="hu-HU" sz="1600" dirty="0" err="1" smtClean="0"/>
              <a:t>Static</a:t>
            </a:r>
            <a:r>
              <a:rPr lang="hu-HU" sz="1600" dirty="0" smtClean="0"/>
              <a:t> </a:t>
            </a:r>
            <a:r>
              <a:rPr lang="hu-HU" sz="1600" dirty="0" err="1" smtClean="0"/>
              <a:t>route</a:t>
            </a:r>
            <a:r>
              <a:rPr lang="hu-HU" sz="1600" dirty="0" smtClean="0"/>
              <a:t> 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</a:t>
            </a:r>
            <a:r>
              <a:rPr lang="hu-HU" sz="1600" dirty="0"/>
              <a:t>: 172.16.0.4/30, .16/30, .24/30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20 tiltva</a:t>
            </a:r>
            <a:br>
              <a:rPr lang="hu-HU" sz="1600" dirty="0"/>
            </a:br>
            <a:r>
              <a:rPr lang="hu-HU" sz="1600" dirty="0" smtClean="0"/>
              <a:t>-Más </a:t>
            </a:r>
            <a:r>
              <a:rPr lang="hu-HU" sz="1600" dirty="0"/>
              <a:t>telephelyek tiltva (192.168.10,20,50–80.0/24)</a:t>
            </a:r>
            <a:br>
              <a:rPr lang="hu-HU" sz="1600" dirty="0"/>
            </a:br>
            <a:r>
              <a:rPr lang="hu-HU" sz="1600" dirty="0" smtClean="0"/>
              <a:t>-ACL </a:t>
            </a:r>
            <a:r>
              <a:rPr lang="hu-HU" sz="1600" dirty="0" smtClean="0"/>
              <a:t>100</a:t>
            </a:r>
            <a:endParaRPr lang="hu-HU" sz="1600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hu-HU" sz="1600" b="1" dirty="0" err="1" smtClean="0"/>
              <a:t>Nat</a:t>
            </a:r>
            <a:endParaRPr lang="hu-HU" sz="1600" b="1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hu-HU" sz="1600" dirty="0" smtClean="0"/>
              <a:t>-Címfordítás statikusan és dinamikusan</a:t>
            </a:r>
          </a:p>
        </p:txBody>
      </p:sp>
      <p:sp>
        <p:nvSpPr>
          <p:cNvPr id="121" name="Google Shape;121;p8"/>
          <p:cNvSpPr/>
          <p:nvPr/>
        </p:nvSpPr>
        <p:spPr>
          <a:xfrm>
            <a:off x="8896425" y="64966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712" y="1678474"/>
            <a:ext cx="5448088" cy="3849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00" y="1239866"/>
            <a:ext cx="5600700" cy="439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913" y="1066425"/>
            <a:ext cx="5333776" cy="484946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4413300" y="266900"/>
            <a:ext cx="33654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SZEGED</a:t>
            </a:r>
            <a:endParaRPr sz="3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470638" y="1066425"/>
            <a:ext cx="5232300" cy="3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 smtClean="0"/>
              <a:t>DHCP és DHCPV6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-SZEGED_10</a:t>
            </a:r>
            <a:r>
              <a:rPr lang="hu-HU" sz="1600" dirty="0"/>
              <a:t>: 192.168.10.0/24</a:t>
            </a:r>
            <a:br>
              <a:rPr lang="hu-HU" sz="1600" dirty="0"/>
            </a:br>
            <a:r>
              <a:rPr lang="hu-HU" sz="1600" dirty="0" smtClean="0"/>
              <a:t>-SZEGED_20</a:t>
            </a:r>
            <a:r>
              <a:rPr lang="hu-HU" sz="1600" dirty="0"/>
              <a:t>: 192.168.20.0/24</a:t>
            </a:r>
            <a:br>
              <a:rPr lang="hu-HU" sz="1600" dirty="0"/>
            </a:br>
            <a:r>
              <a:rPr lang="hu-HU" sz="1600" dirty="0" smtClean="0"/>
              <a:t>-Kizárt </a:t>
            </a:r>
            <a:r>
              <a:rPr lang="hu-HU" sz="1600" dirty="0"/>
              <a:t>tartományok: .1–.49, .101–.254</a:t>
            </a:r>
          </a:p>
          <a:p>
            <a:r>
              <a:rPr lang="hu-HU" sz="1600" dirty="0" smtClean="0"/>
              <a:t>-(</a:t>
            </a:r>
            <a:r>
              <a:rPr lang="hu-HU" sz="1600" dirty="0" err="1" smtClean="0"/>
              <a:t>Dual</a:t>
            </a:r>
            <a:r>
              <a:rPr lang="hu-HU" sz="1600" dirty="0" smtClean="0"/>
              <a:t> </a:t>
            </a:r>
            <a:r>
              <a:rPr lang="hu-HU" sz="1600" dirty="0" err="1" smtClean="0"/>
              <a:t>stack</a:t>
            </a:r>
            <a:r>
              <a:rPr lang="hu-HU" sz="1600" dirty="0" smtClean="0"/>
              <a:t> </a:t>
            </a:r>
            <a:r>
              <a:rPr lang="hu-HU" sz="1600" dirty="0" err="1" smtClean="0"/>
              <a:t>ip</a:t>
            </a:r>
            <a:r>
              <a:rPr lang="hu-HU" sz="1600" dirty="0" smtClean="0"/>
              <a:t>)</a:t>
            </a:r>
            <a:endParaRPr lang="hu-HU" sz="1600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192.168.10.1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192.168.20.1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smtClean="0"/>
              <a:t>OSPF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Static</a:t>
            </a:r>
            <a:r>
              <a:rPr lang="hu-HU" sz="1600" dirty="0" smtClean="0"/>
              <a:t> </a:t>
            </a:r>
            <a:r>
              <a:rPr lang="hu-HU" sz="1600" dirty="0" err="1" smtClean="0"/>
              <a:t>route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 </a:t>
            </a:r>
            <a:r>
              <a:rPr lang="hu-HU" sz="1600" dirty="0"/>
              <a:t>hálózatok: 172.16.0.0/30, .16/30, .20/30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20 tiltva</a:t>
            </a:r>
            <a:br>
              <a:rPr lang="hu-HU" sz="1600" dirty="0"/>
            </a:br>
            <a:r>
              <a:rPr lang="hu-HU" sz="1600" dirty="0" smtClean="0"/>
              <a:t>-Más </a:t>
            </a:r>
            <a:r>
              <a:rPr lang="hu-HU" sz="1600" dirty="0"/>
              <a:t>telephelyek tiltva (192.168.30–80.0/24)</a:t>
            </a:r>
            <a:br>
              <a:rPr lang="hu-HU" sz="1600" dirty="0"/>
            </a:br>
            <a:r>
              <a:rPr lang="hu-HU" sz="1600" dirty="0" smtClean="0"/>
              <a:t>-ACL </a:t>
            </a:r>
            <a:r>
              <a:rPr lang="hu-HU" sz="1600" dirty="0" smtClean="0"/>
              <a:t>100</a:t>
            </a:r>
            <a:endParaRPr lang="hu-HU" sz="1600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259500" y="645145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Hálózati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Rendszer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Projektbemutató</a:t>
            </a:r>
            <a:endParaRPr sz="10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36" y="1368389"/>
            <a:ext cx="5393427" cy="4137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00" y="1541650"/>
            <a:ext cx="5600700" cy="439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9162" y="1713615"/>
            <a:ext cx="5333776" cy="379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2818384" y="310476"/>
            <a:ext cx="5834796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hu-HU" sz="35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KECSKEMÉT - PÉNZÜGY</a:t>
            </a:r>
            <a:endParaRPr sz="3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02650" y="3116575"/>
            <a:ext cx="69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525259" y="1812920"/>
            <a:ext cx="5232300" cy="3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US" sz="1600" dirty="0" smtClean="0"/>
              <a:t>10.0.0.0/8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</a:t>
            </a:r>
            <a:r>
              <a:rPr lang="en-US" sz="1600" dirty="0" smtClean="0"/>
              <a:t>10.0.0.10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US" sz="1600" dirty="0" smtClean="0"/>
              <a:t>OSPF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Multilayer</a:t>
            </a:r>
            <a:r>
              <a:rPr lang="hu-HU" sz="1600" b="1" dirty="0" smtClean="0"/>
              <a:t> SW</a:t>
            </a:r>
          </a:p>
          <a:p>
            <a:endParaRPr lang="hu-HU" sz="1600" b="1" dirty="0" smtClean="0"/>
          </a:p>
        </p:txBody>
      </p:sp>
      <p:sp>
        <p:nvSpPr>
          <p:cNvPr id="134" name="Google Shape;134;p9"/>
          <p:cNvSpPr/>
          <p:nvPr/>
        </p:nvSpPr>
        <p:spPr>
          <a:xfrm>
            <a:off x="259500" y="651839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692" y="2353142"/>
            <a:ext cx="302937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1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775" y="0"/>
            <a:ext cx="1229677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525" y="1544102"/>
            <a:ext cx="5400585" cy="403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350" y="1542700"/>
            <a:ext cx="5722173" cy="42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/>
        </p:nvSpPr>
        <p:spPr>
          <a:xfrm>
            <a:off x="1716324" y="210502"/>
            <a:ext cx="8654576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hu-HU" sz="35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DUNAÚJVÁROS - HR</a:t>
            </a:r>
            <a:endParaRPr sz="3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330450" y="2849875"/>
            <a:ext cx="488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611625" y="2880350"/>
            <a:ext cx="507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17500" y="80693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371590" y="1606370"/>
            <a:ext cx="51411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 smtClean="0"/>
              <a:t>DHCP</a:t>
            </a:r>
            <a:r>
              <a:rPr lang="en-US" sz="1600" b="1" dirty="0" smtClean="0"/>
              <a:t>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-DHCP</a:t>
            </a:r>
            <a:r>
              <a:rPr lang="en-US" sz="1600" dirty="0" smtClean="0"/>
              <a:t>v6 : </a:t>
            </a:r>
            <a:r>
              <a:rPr lang="en-US" sz="1600" dirty="0"/>
              <a:t>2001:DB8:ACAD:2::1/64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10</a:t>
            </a:r>
            <a:r>
              <a:rPr lang="en-US" sz="1600" dirty="0" smtClean="0"/>
              <a:t> </a:t>
            </a:r>
            <a:r>
              <a:rPr lang="hu-HU" sz="1600" dirty="0" smtClean="0"/>
              <a:t>–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r>
              <a:rPr lang="hu-HU" sz="1600" dirty="0"/>
              <a:t> végzi (tervezett).</a:t>
            </a:r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Routing</a:t>
            </a:r>
            <a:r>
              <a:rPr lang="hu-HU" sz="1600" dirty="0" smtClean="0"/>
              <a:t> </a:t>
            </a:r>
            <a:r>
              <a:rPr lang="hu-HU" sz="1600" dirty="0"/>
              <a:t>konfiguráció fejlesztés alatt, tervezetten </a:t>
            </a:r>
            <a:r>
              <a:rPr lang="hu-HU" sz="1600" dirty="0" smtClean="0"/>
              <a:t>OSPF</a:t>
            </a:r>
            <a:r>
              <a:rPr lang="hu-HU" sz="1600" dirty="0"/>
              <a:t>, ideiglenes </a:t>
            </a:r>
            <a:r>
              <a:rPr lang="hu-HU" sz="1600" dirty="0" err="1"/>
              <a:t>router</a:t>
            </a:r>
            <a:r>
              <a:rPr lang="hu-HU" sz="1600" dirty="0"/>
              <a:t>-ID: 9.9.9.9.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IPv6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-IPv6 </a:t>
            </a:r>
            <a:r>
              <a:rPr lang="hu-HU" sz="1600" dirty="0" err="1"/>
              <a:t>unicast-routing</a:t>
            </a:r>
            <a:r>
              <a:rPr lang="hu-HU" sz="1600" dirty="0"/>
              <a:t> engedélyezve</a:t>
            </a:r>
            <a:r>
              <a:rPr lang="hu-HU" sz="1600" dirty="0" smtClean="0"/>
              <a:t>,</a:t>
            </a:r>
            <a:endParaRPr lang="hu-HU" sz="1600" dirty="0"/>
          </a:p>
        </p:txBody>
      </p:sp>
      <p:sp>
        <p:nvSpPr>
          <p:cNvPr id="121" name="Google Shape;121;p8"/>
          <p:cNvSpPr/>
          <p:nvPr/>
        </p:nvSpPr>
        <p:spPr>
          <a:xfrm>
            <a:off x="8896425" y="64966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25" y="1606370"/>
            <a:ext cx="5410130" cy="397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2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 txBox="1"/>
          <p:nvPr/>
        </p:nvSpPr>
        <p:spPr>
          <a:xfrm>
            <a:off x="5088350" y="469750"/>
            <a:ext cx="362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TESZTELÉS</a:t>
            </a:r>
            <a:endParaRPr sz="3500"/>
          </a:p>
        </p:txBody>
      </p:sp>
      <p:pic>
        <p:nvPicPr>
          <p:cNvPr id="142" name="Google Shape;14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13" y="1615125"/>
            <a:ext cx="11874775" cy="33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/>
        </p:nvSpPr>
        <p:spPr>
          <a:xfrm>
            <a:off x="4512050" y="324775"/>
            <a:ext cx="3392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</a:rPr>
              <a:t>Jira (Atlassian)</a:t>
            </a:r>
            <a:endParaRPr sz="3500"/>
          </a:p>
        </p:txBody>
      </p:sp>
      <p:sp>
        <p:nvSpPr>
          <p:cNvPr id="150" name="Google Shape;150;p11"/>
          <p:cNvSpPr txBox="1"/>
          <p:nvPr/>
        </p:nvSpPr>
        <p:spPr>
          <a:xfrm>
            <a:off x="582850" y="1238200"/>
            <a:ext cx="29100" cy="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1429875"/>
            <a:ext cx="5560632" cy="986873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52" name="Google Shape;15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2639025"/>
            <a:ext cx="3711901" cy="98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3848175"/>
            <a:ext cx="4045200" cy="986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050" y="5057350"/>
            <a:ext cx="4938477" cy="986898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155" name="Google Shape;155;p11"/>
          <p:cNvSpPr/>
          <p:nvPr/>
        </p:nvSpPr>
        <p:spPr>
          <a:xfrm>
            <a:off x="327550" y="648939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19033" y="1578187"/>
            <a:ext cx="5579156" cy="86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Lora"/>
              <a:buChar char="●"/>
            </a:pPr>
            <a:r>
              <a:rPr lang="en-US" sz="2000" dirty="0" err="1">
                <a:latin typeface="Lora"/>
                <a:ea typeface="Lora"/>
                <a:cs typeface="Lora"/>
                <a:sym typeface="Lora"/>
              </a:rPr>
              <a:t>Mi</a:t>
            </a:r>
            <a:r>
              <a:rPr lang="en-US" sz="2000" dirty="0"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en-US" sz="2000" dirty="0" err="1">
                <a:latin typeface="Lora"/>
                <a:ea typeface="Lora"/>
                <a:cs typeface="Lora"/>
                <a:sym typeface="Lora"/>
              </a:rPr>
              <a:t>célja</a:t>
            </a:r>
            <a:r>
              <a:rPr lang="en-US" sz="2000" dirty="0">
                <a:latin typeface="Lora"/>
                <a:ea typeface="Lora"/>
                <a:cs typeface="Lora"/>
                <a:sym typeface="Lora"/>
              </a:rPr>
              <a:t> a Jira </a:t>
            </a:r>
            <a:r>
              <a:rPr lang="en-US" sz="2000" dirty="0" err="1">
                <a:latin typeface="Lora"/>
                <a:ea typeface="Lora"/>
                <a:cs typeface="Lora"/>
                <a:sym typeface="Lora"/>
              </a:rPr>
              <a:t>használatának</a:t>
            </a:r>
            <a:r>
              <a:rPr lang="en-US" sz="2000" dirty="0"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en-US" sz="2000" dirty="0" err="1">
                <a:latin typeface="Lora"/>
                <a:ea typeface="Lora"/>
                <a:cs typeface="Lora"/>
                <a:sym typeface="Lora"/>
              </a:rPr>
              <a:t>csapatunkban</a:t>
            </a:r>
            <a:r>
              <a:rPr lang="en-US" sz="2000" dirty="0">
                <a:latin typeface="Lora"/>
                <a:ea typeface="Lora"/>
                <a:cs typeface="Lora"/>
                <a:sym typeface="Lora"/>
              </a:rPr>
              <a:t>?</a:t>
            </a:r>
            <a:endParaRPr sz="20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629100" y="2886000"/>
            <a:ext cx="37119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Lora"/>
              <a:buChar char="●"/>
            </a:pPr>
            <a:r>
              <a:rPr lang="en-US" sz="1900">
                <a:latin typeface="Lora"/>
                <a:ea typeface="Lora"/>
                <a:cs typeface="Lora"/>
                <a:sym typeface="Lora"/>
              </a:rPr>
              <a:t>Hogyan működik?</a:t>
            </a:r>
            <a:endParaRPr sz="19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29088" y="4052325"/>
            <a:ext cx="40452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Miért jó a JIRA?</a:t>
            </a:r>
            <a:endParaRPr sz="1900"/>
          </a:p>
        </p:txBody>
      </p:sp>
      <p:sp>
        <p:nvSpPr>
          <p:cNvPr id="159" name="Google Shape;159;p11"/>
          <p:cNvSpPr txBox="1"/>
          <p:nvPr/>
        </p:nvSpPr>
        <p:spPr>
          <a:xfrm>
            <a:off x="582850" y="5314363"/>
            <a:ext cx="50022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lang="en-US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Mérhetőség és Átláthatóság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57" y="988795"/>
            <a:ext cx="5849144" cy="4325568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819" y="4022829"/>
            <a:ext cx="6305412" cy="2544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 txBox="1"/>
          <p:nvPr/>
        </p:nvSpPr>
        <p:spPr>
          <a:xfrm>
            <a:off x="4932550" y="335450"/>
            <a:ext cx="3653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GITHUB</a:t>
            </a:r>
            <a:endParaRPr sz="3500"/>
          </a:p>
        </p:txBody>
      </p:sp>
      <p:sp>
        <p:nvSpPr>
          <p:cNvPr id="168" name="Google Shape;168;p12"/>
          <p:cNvSpPr txBox="1"/>
          <p:nvPr/>
        </p:nvSpPr>
        <p:spPr>
          <a:xfrm>
            <a:off x="916325" y="1789175"/>
            <a:ext cx="17979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818" y="4832525"/>
            <a:ext cx="4851600" cy="939477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70" name="Google Shape;17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163" y="3374017"/>
            <a:ext cx="4286000" cy="939477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71" name="Google Shape;17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2001" y="1327258"/>
            <a:ext cx="2073325" cy="20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810313" y="3429000"/>
            <a:ext cx="3653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Lora"/>
              <a:buChar char="●"/>
            </a:pPr>
            <a:r>
              <a:rPr lang="en-US" sz="2300" dirty="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hu-HU" sz="2300" dirty="0" smtClean="0"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2300" dirty="0" smtClean="0">
                <a:latin typeface="Lora"/>
                <a:ea typeface="Lora"/>
                <a:cs typeface="Lora"/>
                <a:sym typeface="Lora"/>
              </a:rPr>
              <a:t>ire </a:t>
            </a:r>
            <a:r>
              <a:rPr lang="en-US" sz="2300" dirty="0" err="1">
                <a:latin typeface="Lora"/>
                <a:ea typeface="Lora"/>
                <a:cs typeface="Lora"/>
                <a:sym typeface="Lora"/>
              </a:rPr>
              <a:t>használjuk</a:t>
            </a:r>
            <a:r>
              <a:rPr lang="en-US" sz="2300" dirty="0">
                <a:latin typeface="Lora"/>
                <a:ea typeface="Lora"/>
                <a:cs typeface="Lora"/>
                <a:sym typeface="Lora"/>
              </a:rPr>
              <a:t>?</a:t>
            </a:r>
            <a:endParaRPr sz="2300" dirty="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2"/>
          <p:cNvSpPr txBox="1"/>
          <p:nvPr/>
        </p:nvSpPr>
        <p:spPr>
          <a:xfrm>
            <a:off x="810313" y="4876759"/>
            <a:ext cx="44658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Lora"/>
              <a:buChar char="●"/>
            </a:pPr>
            <a:r>
              <a:rPr lang="en-US" sz="2300" dirty="0" err="1">
                <a:latin typeface="Lora"/>
                <a:ea typeface="Lora"/>
                <a:cs typeface="Lora"/>
                <a:sym typeface="Lora"/>
              </a:rPr>
              <a:t>Miért</a:t>
            </a:r>
            <a:r>
              <a:rPr lang="en-US" sz="2300" dirty="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300" dirty="0" err="1">
                <a:latin typeface="Lora"/>
                <a:ea typeface="Lora"/>
                <a:cs typeface="Lora"/>
                <a:sym typeface="Lora"/>
              </a:rPr>
              <a:t>jó</a:t>
            </a:r>
            <a:r>
              <a:rPr lang="en-US" sz="2300" dirty="0">
                <a:latin typeface="Lora"/>
                <a:ea typeface="Lora"/>
                <a:cs typeface="Lora"/>
                <a:sym typeface="Lora"/>
              </a:rPr>
              <a:t> a GitHub?</a:t>
            </a:r>
            <a:endParaRPr sz="2300" dirty="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326" y="1564523"/>
            <a:ext cx="6677957" cy="29531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1403400" y="2298375"/>
            <a:ext cx="10334100" cy="2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US" sz="530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Köszönjük Szépen a Figyelmet!</a:t>
            </a:r>
            <a:endParaRPr sz="53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356</Words>
  <Application>Microsoft Office PowerPoint</Application>
  <PresentationFormat>Szélesvásznú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Calibri</vt:lpstr>
      <vt:lpstr>Arial</vt:lpstr>
      <vt:lpstr>Times New Roman</vt:lpstr>
      <vt:lpstr>Lora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admin</dc:creator>
  <cp:lastModifiedBy>Lenovo</cp:lastModifiedBy>
  <cp:revision>15</cp:revision>
  <dcterms:modified xsi:type="dcterms:W3CDTF">2026-02-17T10:45:04Z</dcterms:modified>
</cp:coreProperties>
</file>